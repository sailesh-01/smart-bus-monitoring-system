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DM Sans" pitchFamily="2" charset="0"/>
      <p:regular r:id="rId16"/>
    </p:embeddedFont>
    <p:embeddedFont>
      <p:font typeface="DM Sans Bold" panose="020B0604020202020204" charset="0"/>
      <p:regular r:id="rId17"/>
    </p:embeddedFont>
    <p:embeddedFont>
      <p:font typeface="Georgia Pro Bold" panose="020B0604020202020204" charset="0"/>
      <p:regular r:id="rId18"/>
    </p:embeddedFont>
    <p:embeddedFont>
      <p:font typeface="Georgia Pro Light" panose="02040302050405020303" pitchFamily="18"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4" d="100"/>
          <a:sy n="64" d="100"/>
        </p:scale>
        <p:origin x="178"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50294" y="0"/>
            <a:ext cx="14387413" cy="10287000"/>
          </a:xfrm>
          <a:custGeom>
            <a:avLst/>
            <a:gdLst/>
            <a:ahLst/>
            <a:cxnLst/>
            <a:rect l="l" t="t" r="r" b="b"/>
            <a:pathLst>
              <a:path w="14387413" h="10287000">
                <a:moveTo>
                  <a:pt x="0" y="0"/>
                </a:moveTo>
                <a:lnTo>
                  <a:pt x="14387412" y="0"/>
                </a:lnTo>
                <a:lnTo>
                  <a:pt x="14387412" y="10287000"/>
                </a:lnTo>
                <a:lnTo>
                  <a:pt x="0" y="10287000"/>
                </a:lnTo>
                <a:lnTo>
                  <a:pt x="0" y="0"/>
                </a:lnTo>
                <a:close/>
              </a:path>
            </a:pathLst>
          </a:custGeom>
          <a:blipFill>
            <a:blip r:embed="rId2"/>
            <a:stretch>
              <a:fillRect/>
            </a:stretch>
          </a:blipFill>
        </p:spPr>
        <p:txBody>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3D62"/>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8991600" cy="10287000"/>
            <a:chOff x="0" y="0"/>
            <a:chExt cx="1035548" cy="1184737"/>
          </a:xfrm>
        </p:grpSpPr>
        <p:sp>
          <p:nvSpPr>
            <p:cNvPr id="3" name="Freeform 3"/>
            <p:cNvSpPr/>
            <p:nvPr/>
          </p:nvSpPr>
          <p:spPr>
            <a:xfrm>
              <a:off x="0" y="0"/>
              <a:ext cx="1035548" cy="1184737"/>
            </a:xfrm>
            <a:custGeom>
              <a:avLst/>
              <a:gdLst/>
              <a:ahLst/>
              <a:cxnLst/>
              <a:rect l="l" t="t" r="r" b="b"/>
              <a:pathLst>
                <a:path w="1035548" h="1184737">
                  <a:moveTo>
                    <a:pt x="0" y="0"/>
                  </a:moveTo>
                  <a:lnTo>
                    <a:pt x="1035548" y="0"/>
                  </a:lnTo>
                  <a:lnTo>
                    <a:pt x="1035548" y="1184737"/>
                  </a:lnTo>
                  <a:lnTo>
                    <a:pt x="0" y="1184737"/>
                  </a:lnTo>
                  <a:close/>
                </a:path>
              </a:pathLst>
            </a:custGeom>
            <a:blipFill>
              <a:blip r:embed="rId2"/>
              <a:stretch>
                <a:fillRect t="-597" b="-597"/>
              </a:stretch>
            </a:blipFill>
          </p:spPr>
        </p:sp>
      </p:grpSp>
      <p:grpSp>
        <p:nvGrpSpPr>
          <p:cNvPr id="4" name="Group 4"/>
          <p:cNvGrpSpPr/>
          <p:nvPr/>
        </p:nvGrpSpPr>
        <p:grpSpPr>
          <a:xfrm>
            <a:off x="9610725" y="443616"/>
            <a:ext cx="6877050" cy="585084"/>
            <a:chOff x="0" y="0"/>
            <a:chExt cx="9169400" cy="780112"/>
          </a:xfrm>
        </p:grpSpPr>
        <p:sp>
          <p:nvSpPr>
            <p:cNvPr id="5" name="Freeform 5"/>
            <p:cNvSpPr/>
            <p:nvPr/>
          </p:nvSpPr>
          <p:spPr>
            <a:xfrm rot="-5400000" flipH="1">
              <a:off x="36553" y="74861"/>
              <a:ext cx="555143" cy="628248"/>
            </a:xfrm>
            <a:custGeom>
              <a:avLst/>
              <a:gdLst/>
              <a:ahLst/>
              <a:cxnLst/>
              <a:rect l="l" t="t" r="r" b="b"/>
              <a:pathLst>
                <a:path w="555143" h="628248">
                  <a:moveTo>
                    <a:pt x="555143" y="0"/>
                  </a:moveTo>
                  <a:lnTo>
                    <a:pt x="0" y="0"/>
                  </a:lnTo>
                  <a:lnTo>
                    <a:pt x="0" y="628248"/>
                  </a:lnTo>
                  <a:lnTo>
                    <a:pt x="555143" y="628248"/>
                  </a:lnTo>
                  <a:lnTo>
                    <a:pt x="5551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795304" y="95250"/>
              <a:ext cx="8374096" cy="684862"/>
            </a:xfrm>
            <a:prstGeom prst="rect">
              <a:avLst/>
            </a:prstGeom>
          </p:spPr>
          <p:txBody>
            <a:bodyPr lIns="0" tIns="0" rIns="0" bIns="0" rtlCol="0" anchor="t">
              <a:spAutoFit/>
            </a:bodyPr>
            <a:lstStyle/>
            <a:p>
              <a:pPr marL="0" lvl="0" indent="0" algn="l">
                <a:lnSpc>
                  <a:spcPts val="3555"/>
                </a:lnSpc>
              </a:pPr>
              <a:r>
                <a:rPr lang="en-US" sz="3864" b="1" spc="-77">
                  <a:solidFill>
                    <a:srgbClr val="FFFFFF"/>
                  </a:solidFill>
                  <a:latin typeface="Georgia Pro Bold"/>
                  <a:ea typeface="Georgia Pro Bold"/>
                  <a:cs typeface="Georgia Pro Bold"/>
                  <a:sym typeface="Georgia Pro Bold"/>
                </a:rPr>
                <a:t>AGENDA</a:t>
              </a:r>
            </a:p>
          </p:txBody>
        </p:sp>
      </p:grpSp>
      <p:sp>
        <p:nvSpPr>
          <p:cNvPr id="7" name="TextBox 7"/>
          <p:cNvSpPr txBox="1"/>
          <p:nvPr/>
        </p:nvSpPr>
        <p:spPr>
          <a:xfrm>
            <a:off x="9610725" y="1385452"/>
            <a:ext cx="6879502" cy="5718810"/>
          </a:xfrm>
          <a:prstGeom prst="rect">
            <a:avLst/>
          </a:prstGeom>
        </p:spPr>
        <p:txBody>
          <a:bodyPr lIns="0" tIns="0" rIns="0" bIns="0" rtlCol="0" anchor="t">
            <a:spAutoFit/>
          </a:bodyPr>
          <a:lstStyle/>
          <a:p>
            <a:pPr marL="777240" lvl="1" indent="-388620" algn="just">
              <a:lnSpc>
                <a:spcPts val="5039"/>
              </a:lnSpc>
              <a:buFont typeface="Arial"/>
              <a:buChar char="•"/>
            </a:pPr>
            <a:r>
              <a:rPr lang="en-US" sz="3599">
                <a:solidFill>
                  <a:srgbClr val="FFFFFF"/>
                </a:solidFill>
                <a:latin typeface="DM Sans"/>
                <a:ea typeface="DM Sans"/>
                <a:cs typeface="DM Sans"/>
                <a:sym typeface="DM Sans"/>
              </a:rPr>
              <a:t>ABSTRACT</a:t>
            </a:r>
          </a:p>
          <a:p>
            <a:pPr marL="777240" lvl="1" indent="-388620" algn="just">
              <a:lnSpc>
                <a:spcPts val="5039"/>
              </a:lnSpc>
              <a:buFont typeface="Arial"/>
              <a:buChar char="•"/>
            </a:pPr>
            <a:r>
              <a:rPr lang="en-US" sz="3599">
                <a:solidFill>
                  <a:srgbClr val="FFFFFF"/>
                </a:solidFill>
                <a:latin typeface="DM Sans"/>
                <a:ea typeface="DM Sans"/>
                <a:cs typeface="DM Sans"/>
                <a:sym typeface="DM Sans"/>
              </a:rPr>
              <a:t>INTRODUCTION</a:t>
            </a:r>
          </a:p>
          <a:p>
            <a:pPr marL="777240" lvl="1" indent="-388620" algn="just">
              <a:lnSpc>
                <a:spcPts val="5039"/>
              </a:lnSpc>
              <a:buFont typeface="Arial"/>
              <a:buChar char="•"/>
            </a:pPr>
            <a:r>
              <a:rPr lang="en-US" sz="3599">
                <a:solidFill>
                  <a:srgbClr val="FFFFFF"/>
                </a:solidFill>
                <a:latin typeface="DM Sans"/>
                <a:ea typeface="DM Sans"/>
                <a:cs typeface="DM Sans"/>
                <a:sym typeface="DM Sans"/>
              </a:rPr>
              <a:t>OBJECTIVE</a:t>
            </a:r>
          </a:p>
          <a:p>
            <a:pPr marL="777240" lvl="1" indent="-388620" algn="just">
              <a:lnSpc>
                <a:spcPts val="5039"/>
              </a:lnSpc>
              <a:buFont typeface="Arial"/>
              <a:buChar char="•"/>
            </a:pPr>
            <a:r>
              <a:rPr lang="en-US" sz="3599">
                <a:solidFill>
                  <a:srgbClr val="FFFFFF"/>
                </a:solidFill>
                <a:latin typeface="DM Sans"/>
                <a:ea typeface="DM Sans"/>
                <a:cs typeface="DM Sans"/>
                <a:sym typeface="DM Sans"/>
              </a:rPr>
              <a:t>LITERATURE REVIEW</a:t>
            </a:r>
          </a:p>
          <a:p>
            <a:pPr marL="777240" lvl="1" indent="-388620" algn="just">
              <a:lnSpc>
                <a:spcPts val="5039"/>
              </a:lnSpc>
              <a:buFont typeface="Arial"/>
              <a:buChar char="•"/>
            </a:pPr>
            <a:r>
              <a:rPr lang="en-US" sz="3599">
                <a:solidFill>
                  <a:srgbClr val="FFFFFF"/>
                </a:solidFill>
                <a:latin typeface="DM Sans"/>
                <a:ea typeface="DM Sans"/>
                <a:cs typeface="DM Sans"/>
                <a:sym typeface="DM Sans"/>
              </a:rPr>
              <a:t>PROPOSED WORK </a:t>
            </a:r>
          </a:p>
          <a:p>
            <a:pPr marL="777240" lvl="1" indent="-388620" algn="just">
              <a:lnSpc>
                <a:spcPts val="5039"/>
              </a:lnSpc>
              <a:buFont typeface="Arial"/>
              <a:buChar char="•"/>
            </a:pPr>
            <a:r>
              <a:rPr lang="en-US" sz="3599">
                <a:solidFill>
                  <a:srgbClr val="FFFFFF"/>
                </a:solidFill>
                <a:latin typeface="DM Sans"/>
                <a:ea typeface="DM Sans"/>
                <a:cs typeface="DM Sans"/>
                <a:sym typeface="DM Sans"/>
              </a:rPr>
              <a:t>PROPOSED ARCHITECTURE </a:t>
            </a:r>
          </a:p>
          <a:p>
            <a:pPr marL="777240" lvl="1" indent="-388620" algn="just">
              <a:lnSpc>
                <a:spcPts val="5039"/>
              </a:lnSpc>
              <a:buFont typeface="Arial"/>
              <a:buChar char="•"/>
            </a:pPr>
            <a:r>
              <a:rPr lang="en-US" sz="3599">
                <a:solidFill>
                  <a:srgbClr val="FFFFFF"/>
                </a:solidFill>
                <a:latin typeface="DM Sans"/>
                <a:ea typeface="DM Sans"/>
                <a:cs typeface="DM Sans"/>
                <a:sym typeface="DM Sans"/>
              </a:rPr>
              <a:t>HARDWARE/SOFTWARE REQUIREMENTS</a:t>
            </a:r>
          </a:p>
          <a:p>
            <a:pPr algn="just">
              <a:lnSpc>
                <a:spcPts val="5039"/>
              </a:lnSpc>
            </a:pPr>
            <a:endParaRPr lang="en-US" sz="3599">
              <a:solidFill>
                <a:srgbClr val="FFFFFF"/>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666750"/>
            <a:ext cx="8477250" cy="7861100"/>
            <a:chOff x="0" y="0"/>
            <a:chExt cx="11303000" cy="10481466"/>
          </a:xfrm>
        </p:grpSpPr>
        <p:sp>
          <p:nvSpPr>
            <p:cNvPr id="5" name="TextBox 5"/>
            <p:cNvSpPr txBox="1"/>
            <p:nvPr/>
          </p:nvSpPr>
          <p:spPr>
            <a:xfrm>
              <a:off x="0" y="66675"/>
              <a:ext cx="11303000" cy="1584378"/>
            </a:xfrm>
            <a:prstGeom prst="rect">
              <a:avLst/>
            </a:prstGeom>
          </p:spPr>
          <p:txBody>
            <a:bodyPr lIns="0" tIns="0" rIns="0" bIns="0" rtlCol="0" anchor="t">
              <a:spAutoFit/>
            </a:bodyPr>
            <a:lstStyle/>
            <a:p>
              <a:pPr marL="0" lvl="0" indent="0" algn="l">
                <a:lnSpc>
                  <a:spcPts val="8961"/>
                </a:lnSpc>
              </a:pPr>
              <a:r>
                <a:rPr lang="en-US" sz="8146">
                  <a:solidFill>
                    <a:srgbClr val="0A3D62"/>
                  </a:solidFill>
                  <a:latin typeface="Georgia Pro Light"/>
                  <a:ea typeface="Georgia Pro Light"/>
                  <a:cs typeface="Georgia Pro Light"/>
                  <a:sym typeface="Georgia Pro Light"/>
                </a:rPr>
                <a:t>Abstract</a:t>
              </a:r>
            </a:p>
          </p:txBody>
        </p:sp>
        <p:sp>
          <p:nvSpPr>
            <p:cNvPr id="6" name="TextBox 6"/>
            <p:cNvSpPr txBox="1"/>
            <p:nvPr/>
          </p:nvSpPr>
          <p:spPr>
            <a:xfrm>
              <a:off x="0" y="2095688"/>
              <a:ext cx="11303000" cy="8385778"/>
            </a:xfrm>
            <a:prstGeom prst="rect">
              <a:avLst/>
            </a:prstGeom>
          </p:spPr>
          <p:txBody>
            <a:bodyPr lIns="0" tIns="0" rIns="0" bIns="0" rtlCol="0" anchor="t">
              <a:spAutoFit/>
            </a:bodyPr>
            <a:lstStyle/>
            <a:p>
              <a:pPr marL="0" lvl="0" indent="0" algn="l">
                <a:lnSpc>
                  <a:spcPts val="2993"/>
                </a:lnSpc>
              </a:pPr>
              <a:r>
                <a:rPr lang="en-US" sz="2138">
                  <a:solidFill>
                    <a:srgbClr val="0A3D62"/>
                  </a:solidFill>
                  <a:latin typeface="DM Sans"/>
                  <a:ea typeface="DM Sans"/>
                  <a:cs typeface="DM Sans"/>
                  <a:sym typeface="DM Sans"/>
                </a:rPr>
                <a:t>Students often face difficulty in knowing the exact location and arrival time of their college bus. In many small projects, bus details are written directly inside the program (hardcoded), which makes updating information difficult and unrealistic. Advanced GPS-based tracking systems are available, but they are expensive and not suitable for simple college-level implementations.</a:t>
              </a:r>
            </a:p>
            <a:p>
              <a:pPr marL="0" lvl="0" indent="0" algn="l">
                <a:lnSpc>
                  <a:spcPts val="2993"/>
                </a:lnSpc>
              </a:pPr>
              <a:r>
                <a:rPr lang="en-US" sz="2138">
                  <a:solidFill>
                    <a:srgbClr val="0A3D62"/>
                  </a:solidFill>
                  <a:latin typeface="DM Sans"/>
                  <a:ea typeface="DM Sans"/>
                  <a:cs typeface="DM Sans"/>
                  <a:sym typeface="DM Sans"/>
                </a:rPr>
                <a:t>In this project, we propose a Smart Bus Monitoring System using Python and SQLite database. All bus details such as bus number, route, stops, and current location are stored in a database instead of writing them inside the code. The program retrieves data from the database and calculates how many stops are remaining before the bus reaches a selected stop. It then displays a message like “Bus 55 arriving in 2 stops.”</a:t>
              </a:r>
            </a:p>
            <a:p>
              <a:pPr marL="0" lvl="0" indent="0" algn="l">
                <a:lnSpc>
                  <a:spcPts val="2993"/>
                </a:lnSpc>
              </a:pPr>
              <a:r>
                <a:rPr lang="en-US" sz="2138">
                  <a:solidFill>
                    <a:srgbClr val="0A3D62"/>
                  </a:solidFill>
                  <a:latin typeface="DM Sans"/>
                  <a:ea typeface="DM Sans"/>
                  <a:cs typeface="DM Sans"/>
                  <a:sym typeface="DM Sans"/>
                </a:rPr>
                <a:t>This system is easy to update, more flexible, and gives a real-time feel compared to hardcoded systems. It provides a simple, low-cost, and efficient solution for managing college bus information.</a:t>
              </a:r>
            </a:p>
            <a:p>
              <a:pPr marL="0" lvl="0" indent="0" algn="l">
                <a:lnSpc>
                  <a:spcPts val="2993"/>
                </a:lnSpc>
              </a:pPr>
              <a:endParaRPr lang="en-US" sz="2138">
                <a:solidFill>
                  <a:srgbClr val="0A3D62"/>
                </a:solidFill>
                <a:latin typeface="DM Sans"/>
                <a:ea typeface="DM Sans"/>
                <a:cs typeface="DM Sans"/>
                <a:sym typeface="DM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3F5"/>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666750"/>
            <a:ext cx="8324850" cy="7113851"/>
            <a:chOff x="0" y="0"/>
            <a:chExt cx="11099800" cy="9485135"/>
          </a:xfrm>
        </p:grpSpPr>
        <p:sp>
          <p:nvSpPr>
            <p:cNvPr id="5" name="TextBox 5"/>
            <p:cNvSpPr txBox="1"/>
            <p:nvPr/>
          </p:nvSpPr>
          <p:spPr>
            <a:xfrm>
              <a:off x="0" y="66675"/>
              <a:ext cx="11099800" cy="1554696"/>
            </a:xfrm>
            <a:prstGeom prst="rect">
              <a:avLst/>
            </a:prstGeom>
          </p:spPr>
          <p:txBody>
            <a:bodyPr lIns="0" tIns="0" rIns="0" bIns="0" rtlCol="0" anchor="t">
              <a:spAutoFit/>
            </a:bodyPr>
            <a:lstStyle/>
            <a:p>
              <a:pPr marL="0" lvl="0" indent="0" algn="l">
                <a:lnSpc>
                  <a:spcPts val="8800"/>
                </a:lnSpc>
              </a:pPr>
              <a:r>
                <a:rPr lang="en-US" sz="8000">
                  <a:solidFill>
                    <a:srgbClr val="0A3D62"/>
                  </a:solidFill>
                  <a:latin typeface="Georgia Pro Light"/>
                  <a:ea typeface="Georgia Pro Light"/>
                  <a:cs typeface="Georgia Pro Light"/>
                  <a:sym typeface="Georgia Pro Light"/>
                </a:rPr>
                <a:t>Introduction</a:t>
              </a:r>
            </a:p>
          </p:txBody>
        </p:sp>
        <p:sp>
          <p:nvSpPr>
            <p:cNvPr id="6" name="TextBox 6"/>
            <p:cNvSpPr txBox="1"/>
            <p:nvPr/>
          </p:nvSpPr>
          <p:spPr>
            <a:xfrm>
              <a:off x="0" y="2047803"/>
              <a:ext cx="11099800" cy="7437332"/>
            </a:xfrm>
            <a:prstGeom prst="rect">
              <a:avLst/>
            </a:prstGeom>
          </p:spPr>
          <p:txBody>
            <a:bodyPr lIns="0" tIns="0" rIns="0" bIns="0" rtlCol="0" anchor="t">
              <a:spAutoFit/>
            </a:bodyPr>
            <a:lstStyle/>
            <a:p>
              <a:pPr marL="496569" lvl="1" indent="-248284" algn="l">
                <a:lnSpc>
                  <a:spcPts val="3219"/>
                </a:lnSpc>
                <a:buFont typeface="Arial"/>
                <a:buChar char="•"/>
              </a:pPr>
              <a:r>
                <a:rPr lang="en-US" sz="2299">
                  <a:solidFill>
                    <a:srgbClr val="0A3D62"/>
                  </a:solidFill>
                  <a:latin typeface="DM Sans"/>
                  <a:ea typeface="DM Sans"/>
                  <a:cs typeface="DM Sans"/>
                  <a:sym typeface="DM Sans"/>
                </a:rPr>
                <a:t>Transportation is important for college students, and many depend on college buses daily.</a:t>
              </a:r>
            </a:p>
            <a:p>
              <a:pPr marL="496569" lvl="1" indent="-248284" algn="l">
                <a:lnSpc>
                  <a:spcPts val="3219"/>
                </a:lnSpc>
                <a:buFont typeface="Arial"/>
                <a:buChar char="•"/>
              </a:pPr>
              <a:r>
                <a:rPr lang="en-US" sz="2299">
                  <a:solidFill>
                    <a:srgbClr val="0A3D62"/>
                  </a:solidFill>
                  <a:latin typeface="DM Sans"/>
                  <a:ea typeface="DM Sans"/>
                  <a:cs typeface="DM Sans"/>
                  <a:sym typeface="DM Sans"/>
                </a:rPr>
                <a:t>Students often do not know the exact location of the bus or how many stops are remaining, which causes confusion and delay.</a:t>
              </a:r>
            </a:p>
            <a:p>
              <a:pPr marL="496569" lvl="1" indent="-248284" algn="l">
                <a:lnSpc>
                  <a:spcPts val="3219"/>
                </a:lnSpc>
                <a:buFont typeface="Arial"/>
                <a:buChar char="•"/>
              </a:pPr>
              <a:r>
                <a:rPr lang="en-US" sz="2299">
                  <a:solidFill>
                    <a:srgbClr val="0A3D62"/>
                  </a:solidFill>
                  <a:latin typeface="DM Sans"/>
                  <a:ea typeface="DM Sans"/>
                  <a:cs typeface="DM Sans"/>
                  <a:sym typeface="DM Sans"/>
                </a:rPr>
                <a:t>In many small projects, bus details are hardcoded in the program, making updates difficult and not flexible.</a:t>
              </a:r>
            </a:p>
            <a:p>
              <a:pPr marL="496569" lvl="1" indent="-248284" algn="l">
                <a:lnSpc>
                  <a:spcPts val="3219"/>
                </a:lnSpc>
                <a:buFont typeface="Arial"/>
                <a:buChar char="•"/>
              </a:pPr>
              <a:r>
                <a:rPr lang="en-US" sz="2299">
                  <a:solidFill>
                    <a:srgbClr val="0A3D62"/>
                  </a:solidFill>
                  <a:latin typeface="DM Sans"/>
                  <a:ea typeface="DM Sans"/>
                  <a:cs typeface="DM Sans"/>
                  <a:sym typeface="DM Sans"/>
                </a:rPr>
                <a:t>This project proposes a Smart Bus Monitoring System using Python and SQLite database to store bus details dynamically.</a:t>
              </a:r>
            </a:p>
            <a:p>
              <a:pPr marL="496569" lvl="1" indent="-248284" algn="l">
                <a:lnSpc>
                  <a:spcPts val="3219"/>
                </a:lnSpc>
                <a:buFont typeface="Arial"/>
                <a:buChar char="•"/>
              </a:pPr>
              <a:r>
                <a:rPr lang="en-US" sz="2299">
                  <a:solidFill>
                    <a:srgbClr val="0A3D62"/>
                  </a:solidFill>
                  <a:latin typeface="DM Sans"/>
                  <a:ea typeface="DM Sans"/>
                  <a:cs typeface="DM Sans"/>
                  <a:sym typeface="DM Sans"/>
                </a:rPr>
                <a:t>The system calculates remaining stops and displays arrival information, making it more practical and easy to manage.</a:t>
              </a:r>
            </a:p>
            <a:p>
              <a:pPr marL="0" lvl="0" indent="0" algn="l">
                <a:lnSpc>
                  <a:spcPts val="3219"/>
                </a:lnSpc>
              </a:pPr>
              <a:endParaRPr lang="en-US" sz="2299">
                <a:solidFill>
                  <a:srgbClr val="0A3D62"/>
                </a:solidFill>
                <a:latin typeface="DM Sans"/>
                <a:ea typeface="DM Sans"/>
                <a:cs typeface="DM Sans"/>
                <a:sym typeface="DM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3D62"/>
        </a:solidFill>
        <a:effectLst/>
      </p:bgPr>
    </p:bg>
    <p:spTree>
      <p:nvGrpSpPr>
        <p:cNvPr id="1" name=""/>
        <p:cNvGrpSpPr/>
        <p:nvPr/>
      </p:nvGrpSpPr>
      <p:grpSpPr>
        <a:xfrm>
          <a:off x="0" y="0"/>
          <a:ext cx="0" cy="0"/>
          <a:chOff x="0" y="0"/>
          <a:chExt cx="0" cy="0"/>
        </a:xfrm>
      </p:grpSpPr>
      <p:grpSp>
        <p:nvGrpSpPr>
          <p:cNvPr id="2" name="Group 2"/>
          <p:cNvGrpSpPr/>
          <p:nvPr/>
        </p:nvGrpSpPr>
        <p:grpSpPr>
          <a:xfrm>
            <a:off x="666750" y="2457450"/>
            <a:ext cx="7191375" cy="1612850"/>
            <a:chOff x="0" y="0"/>
            <a:chExt cx="9588500" cy="2150467"/>
          </a:xfrm>
        </p:grpSpPr>
        <p:sp>
          <p:nvSpPr>
            <p:cNvPr id="3" name="TextBox 3"/>
            <p:cNvSpPr txBox="1"/>
            <p:nvPr/>
          </p:nvSpPr>
          <p:spPr>
            <a:xfrm>
              <a:off x="0" y="1183362"/>
              <a:ext cx="9588500" cy="9671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To store bus and stop details dynamically using SQLite database.</a:t>
              </a:r>
            </a:p>
          </p:txBody>
        </p:sp>
        <p:sp>
          <p:nvSpPr>
            <p:cNvPr id="4" name="TextBox 4"/>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STORE BUS DETAILS</a:t>
              </a:r>
            </a:p>
          </p:txBody>
        </p:sp>
      </p:grpSp>
      <p:grpSp>
        <p:nvGrpSpPr>
          <p:cNvPr id="5" name="Group 5"/>
          <p:cNvGrpSpPr/>
          <p:nvPr/>
        </p:nvGrpSpPr>
        <p:grpSpPr>
          <a:xfrm>
            <a:off x="666750" y="5165675"/>
            <a:ext cx="7191375" cy="1612850"/>
            <a:chOff x="0" y="0"/>
            <a:chExt cx="9588500" cy="2150467"/>
          </a:xfrm>
        </p:grpSpPr>
        <p:sp>
          <p:nvSpPr>
            <p:cNvPr id="6" name="TextBox 6"/>
            <p:cNvSpPr txBox="1"/>
            <p:nvPr/>
          </p:nvSpPr>
          <p:spPr>
            <a:xfrm>
              <a:off x="0" y="1183362"/>
              <a:ext cx="9588500" cy="9671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Dynamic calculations to provide users with accurate arrival predictions.</a:t>
              </a:r>
            </a:p>
          </p:txBody>
        </p:sp>
        <p:sp>
          <p:nvSpPr>
            <p:cNvPr id="7" name="TextBox 7"/>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CALCULATE REMAINING STOPS</a:t>
              </a:r>
            </a:p>
          </p:txBody>
        </p:sp>
      </p:grpSp>
      <p:grpSp>
        <p:nvGrpSpPr>
          <p:cNvPr id="8" name="Group 8"/>
          <p:cNvGrpSpPr/>
          <p:nvPr/>
        </p:nvGrpSpPr>
        <p:grpSpPr>
          <a:xfrm>
            <a:off x="666750" y="7829550"/>
            <a:ext cx="7191375" cy="1612850"/>
            <a:chOff x="0" y="0"/>
            <a:chExt cx="9588500" cy="2150467"/>
          </a:xfrm>
        </p:grpSpPr>
        <p:sp>
          <p:nvSpPr>
            <p:cNvPr id="9" name="TextBox 9"/>
            <p:cNvSpPr txBox="1"/>
            <p:nvPr/>
          </p:nvSpPr>
          <p:spPr>
            <a:xfrm>
              <a:off x="0" y="1183362"/>
              <a:ext cx="9588500" cy="9671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Enhancing user confidence through precise, real-time data and notifications.</a:t>
              </a:r>
            </a:p>
          </p:txBody>
        </p:sp>
        <p:sp>
          <p:nvSpPr>
            <p:cNvPr id="10" name="TextBox 10"/>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IMPROVE ACCURACY</a:t>
              </a:r>
            </a:p>
          </p:txBody>
        </p:sp>
      </p:grpSp>
      <p:grpSp>
        <p:nvGrpSpPr>
          <p:cNvPr id="11" name="Group 11"/>
          <p:cNvGrpSpPr/>
          <p:nvPr/>
        </p:nvGrpSpPr>
        <p:grpSpPr>
          <a:xfrm>
            <a:off x="9296400" y="2457450"/>
            <a:ext cx="7191375" cy="1612850"/>
            <a:chOff x="0" y="0"/>
            <a:chExt cx="9588500" cy="2150467"/>
          </a:xfrm>
        </p:grpSpPr>
        <p:sp>
          <p:nvSpPr>
            <p:cNvPr id="12" name="TextBox 12"/>
            <p:cNvSpPr txBox="1"/>
            <p:nvPr/>
          </p:nvSpPr>
          <p:spPr>
            <a:xfrm>
              <a:off x="0" y="1183362"/>
              <a:ext cx="9588500" cy="9671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Implementing real-time tracking to enhance user experience and accuracy.</a:t>
              </a:r>
            </a:p>
          </p:txBody>
        </p:sp>
        <p:sp>
          <p:nvSpPr>
            <p:cNvPr id="13" name="TextBox 13"/>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TRACK BUS LOCATION</a:t>
              </a:r>
            </a:p>
          </p:txBody>
        </p:sp>
      </p:grpSp>
      <p:grpSp>
        <p:nvGrpSpPr>
          <p:cNvPr id="14" name="Group 14"/>
          <p:cNvGrpSpPr/>
          <p:nvPr/>
        </p:nvGrpSpPr>
        <p:grpSpPr>
          <a:xfrm>
            <a:off x="9296400" y="5165675"/>
            <a:ext cx="7191375" cy="1612850"/>
            <a:chOff x="0" y="0"/>
            <a:chExt cx="9588500" cy="2150467"/>
          </a:xfrm>
        </p:grpSpPr>
        <p:sp>
          <p:nvSpPr>
            <p:cNvPr id="15" name="TextBox 15"/>
            <p:cNvSpPr txBox="1"/>
            <p:nvPr/>
          </p:nvSpPr>
          <p:spPr>
            <a:xfrm>
              <a:off x="0" y="1183362"/>
              <a:ext cx="9588500" cy="9671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Transitioning to a flexible system that allows for easier updates and scalability.</a:t>
              </a:r>
            </a:p>
          </p:txBody>
        </p:sp>
        <p:sp>
          <p:nvSpPr>
            <p:cNvPr id="16" name="TextBox 16"/>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REPLACE HARDCODED SYSTEM</a:t>
              </a:r>
            </a:p>
          </p:txBody>
        </p:sp>
      </p:grpSp>
      <p:sp>
        <p:nvSpPr>
          <p:cNvPr id="17" name="TextBox 17"/>
          <p:cNvSpPr txBox="1"/>
          <p:nvPr/>
        </p:nvSpPr>
        <p:spPr>
          <a:xfrm>
            <a:off x="666750" y="733425"/>
            <a:ext cx="16954500" cy="1149353"/>
          </a:xfrm>
          <a:prstGeom prst="rect">
            <a:avLst/>
          </a:prstGeom>
        </p:spPr>
        <p:txBody>
          <a:bodyPr lIns="0" tIns="0" rIns="0" bIns="0" rtlCol="0" anchor="t">
            <a:spAutoFit/>
          </a:bodyPr>
          <a:lstStyle/>
          <a:p>
            <a:pPr marL="0" lvl="0" indent="0" algn="l">
              <a:lnSpc>
                <a:spcPts val="8800"/>
              </a:lnSpc>
              <a:spcBef>
                <a:spcPct val="0"/>
              </a:spcBef>
            </a:pPr>
            <a:r>
              <a:rPr lang="en-US" sz="8000">
                <a:solidFill>
                  <a:srgbClr val="FFFFFF"/>
                </a:solidFill>
                <a:latin typeface="Georgia Pro Light"/>
                <a:ea typeface="Georgia Pro Light"/>
                <a:cs typeface="Georgia Pro Light"/>
                <a:sym typeface="Georgia Pro Light"/>
              </a:rPr>
              <a:t>Objectives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6750" y="733425"/>
            <a:ext cx="5753100" cy="2263778"/>
          </a:xfrm>
          <a:prstGeom prst="rect">
            <a:avLst/>
          </a:prstGeom>
        </p:spPr>
        <p:txBody>
          <a:bodyPr lIns="0" tIns="0" rIns="0" bIns="0" rtlCol="0" anchor="t">
            <a:spAutoFit/>
          </a:bodyPr>
          <a:lstStyle/>
          <a:p>
            <a:pPr marL="0" lvl="0" indent="0" algn="l">
              <a:lnSpc>
                <a:spcPts val="8800"/>
              </a:lnSpc>
              <a:spcBef>
                <a:spcPct val="0"/>
              </a:spcBef>
            </a:pPr>
            <a:r>
              <a:rPr lang="en-US" sz="8000">
                <a:solidFill>
                  <a:srgbClr val="0A3D62"/>
                </a:solidFill>
                <a:latin typeface="Georgia Pro Light"/>
                <a:ea typeface="Georgia Pro Light"/>
                <a:cs typeface="Georgia Pro Light"/>
                <a:sym typeface="Georgia Pro Light"/>
              </a:rPr>
              <a:t>Literature Review</a:t>
            </a:r>
          </a:p>
        </p:txBody>
      </p:sp>
      <p:sp>
        <p:nvSpPr>
          <p:cNvPr id="3" name="TextBox 3"/>
          <p:cNvSpPr txBox="1"/>
          <p:nvPr/>
        </p:nvSpPr>
        <p:spPr>
          <a:xfrm>
            <a:off x="9296400" y="2300573"/>
            <a:ext cx="7191375" cy="1442752"/>
          </a:xfrm>
          <a:prstGeom prst="rect">
            <a:avLst/>
          </a:prstGeom>
        </p:spPr>
        <p:txBody>
          <a:bodyPr lIns="0" tIns="0" rIns="0" bIns="0" rtlCol="0" anchor="t">
            <a:spAutoFit/>
          </a:bodyPr>
          <a:lstStyle/>
          <a:p>
            <a:pPr marL="0" lvl="0" indent="0" algn="l">
              <a:lnSpc>
                <a:spcPts val="2903"/>
              </a:lnSpc>
            </a:pPr>
            <a:r>
              <a:rPr lang="en-US" sz="2073">
                <a:solidFill>
                  <a:srgbClr val="0A3D62"/>
                </a:solidFill>
                <a:latin typeface="DM Sans"/>
                <a:ea typeface="DM Sans"/>
                <a:cs typeface="DM Sans"/>
                <a:sym typeface="DM Sans"/>
              </a:rPr>
              <a:t>Traditional GPS systems are often </a:t>
            </a:r>
            <a:r>
              <a:rPr lang="en-US" sz="2073" b="1">
                <a:solidFill>
                  <a:srgbClr val="0A3D62"/>
                </a:solidFill>
                <a:latin typeface="DM Sans Bold"/>
                <a:ea typeface="DM Sans Bold"/>
                <a:cs typeface="DM Sans Bold"/>
                <a:sym typeface="DM Sans Bold"/>
              </a:rPr>
              <a:t>costly and complex</a:t>
            </a:r>
            <a:r>
              <a:rPr lang="en-US" sz="2073">
                <a:solidFill>
                  <a:srgbClr val="0A3D62"/>
                </a:solidFill>
                <a:latin typeface="DM Sans"/>
                <a:ea typeface="DM Sans"/>
                <a:cs typeface="DM Sans"/>
                <a:sym typeface="DM Sans"/>
              </a:rPr>
              <a:t>, making them impractical for many applications. Their reliance on expensive hardware limits accessibility for smaller scale transport projects.</a:t>
            </a:r>
          </a:p>
        </p:txBody>
      </p:sp>
      <p:sp>
        <p:nvSpPr>
          <p:cNvPr id="4" name="TextBox 4"/>
          <p:cNvSpPr txBox="1"/>
          <p:nvPr/>
        </p:nvSpPr>
        <p:spPr>
          <a:xfrm>
            <a:off x="9296400" y="1514475"/>
            <a:ext cx="7191375" cy="438785"/>
          </a:xfrm>
          <a:prstGeom prst="rect">
            <a:avLst/>
          </a:prstGeom>
        </p:spPr>
        <p:txBody>
          <a:bodyPr lIns="0" tIns="0" rIns="0" bIns="0" rtlCol="0" anchor="t">
            <a:spAutoFit/>
          </a:bodyPr>
          <a:lstStyle/>
          <a:p>
            <a:pPr marL="0" lvl="0" indent="0" algn="l">
              <a:lnSpc>
                <a:spcPts val="3640"/>
              </a:lnSpc>
            </a:pPr>
            <a:r>
              <a:rPr lang="en-US" sz="2600" b="1">
                <a:solidFill>
                  <a:srgbClr val="0A3D62"/>
                </a:solidFill>
                <a:latin typeface="DM Sans Bold"/>
                <a:ea typeface="DM Sans Bold"/>
                <a:cs typeface="DM Sans Bold"/>
                <a:sym typeface="DM Sans Bold"/>
              </a:rPr>
              <a:t>GPS LIMITATIONS</a:t>
            </a:r>
          </a:p>
        </p:txBody>
      </p:sp>
      <p:sp>
        <p:nvSpPr>
          <p:cNvPr id="5" name="TextBox 5"/>
          <p:cNvSpPr txBox="1"/>
          <p:nvPr/>
        </p:nvSpPr>
        <p:spPr>
          <a:xfrm>
            <a:off x="9296400" y="4991735"/>
            <a:ext cx="7191375" cy="1442752"/>
          </a:xfrm>
          <a:prstGeom prst="rect">
            <a:avLst/>
          </a:prstGeom>
        </p:spPr>
        <p:txBody>
          <a:bodyPr lIns="0" tIns="0" rIns="0" bIns="0" rtlCol="0" anchor="t">
            <a:spAutoFit/>
          </a:bodyPr>
          <a:lstStyle/>
          <a:p>
            <a:pPr marL="0" lvl="0" indent="0" algn="l">
              <a:lnSpc>
                <a:spcPts val="2903"/>
              </a:lnSpc>
            </a:pPr>
            <a:r>
              <a:rPr lang="en-US" sz="2073">
                <a:solidFill>
                  <a:srgbClr val="0A3D62"/>
                </a:solidFill>
                <a:latin typeface="DM Sans"/>
                <a:ea typeface="DM Sans"/>
                <a:cs typeface="DM Sans"/>
                <a:sym typeface="DM Sans"/>
              </a:rPr>
              <a:t>Many existing bus tracking systems rely on </a:t>
            </a:r>
            <a:r>
              <a:rPr lang="en-US" sz="2073" b="1">
                <a:solidFill>
                  <a:srgbClr val="0A3D62"/>
                </a:solidFill>
                <a:latin typeface="DM Sans Bold"/>
                <a:ea typeface="DM Sans Bold"/>
                <a:cs typeface="DM Sans Bold"/>
                <a:sym typeface="DM Sans Bold"/>
              </a:rPr>
              <a:t>hardcoded data</a:t>
            </a:r>
            <a:r>
              <a:rPr lang="en-US" sz="2073">
                <a:solidFill>
                  <a:srgbClr val="0A3D62"/>
                </a:solidFill>
                <a:latin typeface="DM Sans"/>
                <a:ea typeface="DM Sans"/>
                <a:cs typeface="DM Sans"/>
                <a:sym typeface="DM Sans"/>
              </a:rPr>
              <a:t>, resulting in inflexibility. These systems lack adaptability, making updates labor-intensive and often leading to outdated information for users.</a:t>
            </a:r>
          </a:p>
        </p:txBody>
      </p:sp>
      <p:sp>
        <p:nvSpPr>
          <p:cNvPr id="6" name="TextBox 6"/>
          <p:cNvSpPr txBox="1"/>
          <p:nvPr/>
        </p:nvSpPr>
        <p:spPr>
          <a:xfrm>
            <a:off x="9296400" y="4200525"/>
            <a:ext cx="7191375" cy="438785"/>
          </a:xfrm>
          <a:prstGeom prst="rect">
            <a:avLst/>
          </a:prstGeom>
        </p:spPr>
        <p:txBody>
          <a:bodyPr lIns="0" tIns="0" rIns="0" bIns="0" rtlCol="0" anchor="t">
            <a:spAutoFit/>
          </a:bodyPr>
          <a:lstStyle/>
          <a:p>
            <a:pPr marL="0" lvl="0" indent="0" algn="l">
              <a:lnSpc>
                <a:spcPts val="3640"/>
              </a:lnSpc>
            </a:pPr>
            <a:r>
              <a:rPr lang="en-US" sz="2600" b="1">
                <a:solidFill>
                  <a:srgbClr val="0A3D62"/>
                </a:solidFill>
                <a:latin typeface="DM Sans Bold"/>
                <a:ea typeface="DM Sans Bold"/>
                <a:cs typeface="DM Sans Bold"/>
                <a:sym typeface="DM Sans Bold"/>
              </a:rPr>
              <a:t>HARDCODED SYSTEMS</a:t>
            </a:r>
          </a:p>
        </p:txBody>
      </p:sp>
      <p:sp>
        <p:nvSpPr>
          <p:cNvPr id="7" name="TextBox 7"/>
          <p:cNvSpPr txBox="1"/>
          <p:nvPr/>
        </p:nvSpPr>
        <p:spPr>
          <a:xfrm>
            <a:off x="9296400" y="6891052"/>
            <a:ext cx="7191375" cy="438785"/>
          </a:xfrm>
          <a:prstGeom prst="rect">
            <a:avLst/>
          </a:prstGeom>
        </p:spPr>
        <p:txBody>
          <a:bodyPr lIns="0" tIns="0" rIns="0" bIns="0" rtlCol="0" anchor="t">
            <a:spAutoFit/>
          </a:bodyPr>
          <a:lstStyle/>
          <a:p>
            <a:pPr marL="0" lvl="0" indent="0" algn="l">
              <a:lnSpc>
                <a:spcPts val="3640"/>
              </a:lnSpc>
            </a:pPr>
            <a:r>
              <a:rPr lang="en-US" sz="2600" b="1">
                <a:solidFill>
                  <a:srgbClr val="0A3D62"/>
                </a:solidFill>
                <a:latin typeface="DM Sans Bold"/>
                <a:ea typeface="DM Sans Bold"/>
                <a:cs typeface="DM Sans Bold"/>
                <a:sym typeface="DM Sans Bold"/>
              </a:rPr>
              <a:t>LACK OF DATABASE INTEGRATION</a:t>
            </a:r>
          </a:p>
        </p:txBody>
      </p:sp>
      <p:sp>
        <p:nvSpPr>
          <p:cNvPr id="8" name="TextBox 8"/>
          <p:cNvSpPr txBox="1"/>
          <p:nvPr/>
        </p:nvSpPr>
        <p:spPr>
          <a:xfrm>
            <a:off x="9296400" y="7682261"/>
            <a:ext cx="7191375" cy="1804702"/>
          </a:xfrm>
          <a:prstGeom prst="rect">
            <a:avLst/>
          </a:prstGeom>
        </p:spPr>
        <p:txBody>
          <a:bodyPr lIns="0" tIns="0" rIns="0" bIns="0" rtlCol="0" anchor="t">
            <a:spAutoFit/>
          </a:bodyPr>
          <a:lstStyle/>
          <a:p>
            <a:pPr marL="0" lvl="0" indent="0" algn="l">
              <a:lnSpc>
                <a:spcPts val="2903"/>
              </a:lnSpc>
            </a:pPr>
            <a:r>
              <a:rPr lang="en-US" sz="2073">
                <a:solidFill>
                  <a:srgbClr val="0A3D62"/>
                </a:solidFill>
                <a:latin typeface="DM Sans"/>
                <a:ea typeface="DM Sans"/>
                <a:cs typeface="DM Sans"/>
                <a:sym typeface="DM Sans"/>
              </a:rPr>
              <a:t>Some systems do not use a proper database for storing bus and stop information. Without database support, data management becomes inefficient, less organized, and not scalable. This limits the system’s ability to handle real-time updates and future expansion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3F5"/>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666750"/>
            <a:ext cx="8324850" cy="5975931"/>
            <a:chOff x="0" y="0"/>
            <a:chExt cx="11099800" cy="7967908"/>
          </a:xfrm>
        </p:grpSpPr>
        <p:sp>
          <p:nvSpPr>
            <p:cNvPr id="5" name="TextBox 5"/>
            <p:cNvSpPr txBox="1"/>
            <p:nvPr/>
          </p:nvSpPr>
          <p:spPr>
            <a:xfrm>
              <a:off x="0" y="66675"/>
              <a:ext cx="11099800" cy="1554696"/>
            </a:xfrm>
            <a:prstGeom prst="rect">
              <a:avLst/>
            </a:prstGeom>
          </p:spPr>
          <p:txBody>
            <a:bodyPr lIns="0" tIns="0" rIns="0" bIns="0" rtlCol="0" anchor="t">
              <a:spAutoFit/>
            </a:bodyPr>
            <a:lstStyle/>
            <a:p>
              <a:pPr marL="0" lvl="0" indent="0" algn="l">
                <a:lnSpc>
                  <a:spcPts val="8800"/>
                </a:lnSpc>
              </a:pPr>
              <a:r>
                <a:rPr lang="en-US" sz="8000">
                  <a:solidFill>
                    <a:srgbClr val="0A3D62"/>
                  </a:solidFill>
                  <a:latin typeface="Georgia Pro Light"/>
                  <a:ea typeface="Georgia Pro Light"/>
                  <a:cs typeface="Georgia Pro Light"/>
                  <a:sym typeface="Georgia Pro Light"/>
                </a:rPr>
                <a:t>Proposed System</a:t>
              </a:r>
            </a:p>
          </p:txBody>
        </p:sp>
        <p:sp>
          <p:nvSpPr>
            <p:cNvPr id="6" name="TextBox 6"/>
            <p:cNvSpPr txBox="1"/>
            <p:nvPr/>
          </p:nvSpPr>
          <p:spPr>
            <a:xfrm>
              <a:off x="0" y="2047803"/>
              <a:ext cx="11099800" cy="5920105"/>
            </a:xfrm>
            <a:prstGeom prst="rect">
              <a:avLst/>
            </a:prstGeom>
          </p:spPr>
          <p:txBody>
            <a:bodyPr lIns="0" tIns="0" rIns="0" bIns="0" rtlCol="0" anchor="t">
              <a:spAutoFit/>
            </a:bodyPr>
            <a:lstStyle/>
            <a:p>
              <a:pPr marL="0" lvl="0" indent="0" algn="l">
                <a:lnSpc>
                  <a:spcPts val="2940"/>
                </a:lnSpc>
              </a:pPr>
              <a:r>
                <a:rPr lang="en-US" sz="2100">
                  <a:solidFill>
                    <a:srgbClr val="0A3D62"/>
                  </a:solidFill>
                  <a:latin typeface="DM Sans"/>
                  <a:ea typeface="DM Sans"/>
                  <a:cs typeface="DM Sans"/>
                  <a:sym typeface="DM Sans"/>
                </a:rPr>
                <a:t>The proposed Smart Bus Monitoring System is designed using Python integrated with an SQLite database to provide a dynamic and efficient solution for college transportation management. The new system architecture utilizes an SQLite database for efficient data storage and retrieval, enabling dynamic tracking of bus locations and improving the user experience with a real-time simulation feel.</a:t>
              </a:r>
            </a:p>
            <a:p>
              <a:pPr marL="0" lvl="0" indent="0" algn="l">
                <a:lnSpc>
                  <a:spcPts val="2940"/>
                </a:lnSpc>
              </a:pPr>
              <a:r>
                <a:rPr lang="en-US" sz="2100">
                  <a:solidFill>
                    <a:srgbClr val="0A3D62"/>
                  </a:solidFill>
                  <a:latin typeface="DM Sans"/>
                  <a:ea typeface="DM Sans"/>
                  <a:cs typeface="DM Sans"/>
                  <a:sym typeface="DM Sans"/>
                </a:rPr>
                <a:t>In this system, all important details such as bus number, route information, stop names, stop order, and current bus location are stored in structured database tables. This removes the need for hardcoded values inside the program.</a:t>
              </a:r>
            </a:p>
            <a:p>
              <a:pPr marL="0" lvl="0" indent="0" algn="l">
                <a:lnSpc>
                  <a:spcPts val="2940"/>
                </a:lnSpc>
              </a:pPr>
              <a:endParaRPr lang="en-US" sz="2100">
                <a:solidFill>
                  <a:srgbClr val="0A3D62"/>
                </a:solidFill>
                <a:latin typeface="DM Sans"/>
                <a:ea typeface="DM Sans"/>
                <a:cs typeface="DM Sans"/>
                <a:sym typeface="DM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3D62"/>
        </a:solidFill>
        <a:effectLst/>
      </p:bgPr>
    </p:bg>
    <p:spTree>
      <p:nvGrpSpPr>
        <p:cNvPr id="1" name=""/>
        <p:cNvGrpSpPr/>
        <p:nvPr/>
      </p:nvGrpSpPr>
      <p:grpSpPr>
        <a:xfrm>
          <a:off x="0" y="0"/>
          <a:ext cx="0" cy="0"/>
          <a:chOff x="0" y="0"/>
          <a:chExt cx="0" cy="0"/>
        </a:xfrm>
      </p:grpSpPr>
      <p:grpSp>
        <p:nvGrpSpPr>
          <p:cNvPr id="2" name="Group 2"/>
          <p:cNvGrpSpPr/>
          <p:nvPr/>
        </p:nvGrpSpPr>
        <p:grpSpPr>
          <a:xfrm>
            <a:off x="666750" y="2457450"/>
            <a:ext cx="5448300" cy="3581400"/>
            <a:chOff x="0" y="0"/>
            <a:chExt cx="1539475" cy="1011963"/>
          </a:xfrm>
        </p:grpSpPr>
        <p:sp>
          <p:nvSpPr>
            <p:cNvPr id="3" name="Freeform 3"/>
            <p:cNvSpPr/>
            <p:nvPr/>
          </p:nvSpPr>
          <p:spPr>
            <a:xfrm>
              <a:off x="0" y="0"/>
              <a:ext cx="1539476" cy="1011963"/>
            </a:xfrm>
            <a:custGeom>
              <a:avLst/>
              <a:gdLst/>
              <a:ahLst/>
              <a:cxnLst/>
              <a:rect l="l" t="t" r="r" b="b"/>
              <a:pathLst>
                <a:path w="1539476" h="1011963">
                  <a:moveTo>
                    <a:pt x="0" y="0"/>
                  </a:moveTo>
                  <a:lnTo>
                    <a:pt x="1539476" y="0"/>
                  </a:lnTo>
                  <a:lnTo>
                    <a:pt x="1539476" y="1011963"/>
                  </a:lnTo>
                  <a:lnTo>
                    <a:pt x="0" y="1011963"/>
                  </a:lnTo>
                  <a:close/>
                </a:path>
              </a:pathLst>
            </a:custGeom>
            <a:blipFill>
              <a:blip r:embed="rId2"/>
              <a:stretch>
                <a:fillRect l="-83" r="-83"/>
              </a:stretch>
            </a:blipFill>
          </p:spPr>
        </p:sp>
      </p:grpSp>
      <p:grpSp>
        <p:nvGrpSpPr>
          <p:cNvPr id="4" name="Group 4"/>
          <p:cNvGrpSpPr/>
          <p:nvPr/>
        </p:nvGrpSpPr>
        <p:grpSpPr>
          <a:xfrm>
            <a:off x="6419850" y="2457450"/>
            <a:ext cx="5448300" cy="3581400"/>
            <a:chOff x="0" y="0"/>
            <a:chExt cx="1539475" cy="1011963"/>
          </a:xfrm>
        </p:grpSpPr>
        <p:sp>
          <p:nvSpPr>
            <p:cNvPr id="5" name="Freeform 5"/>
            <p:cNvSpPr/>
            <p:nvPr/>
          </p:nvSpPr>
          <p:spPr>
            <a:xfrm>
              <a:off x="0" y="0"/>
              <a:ext cx="1539476" cy="1011963"/>
            </a:xfrm>
            <a:custGeom>
              <a:avLst/>
              <a:gdLst/>
              <a:ahLst/>
              <a:cxnLst/>
              <a:rect l="l" t="t" r="r" b="b"/>
              <a:pathLst>
                <a:path w="1539476" h="1011963">
                  <a:moveTo>
                    <a:pt x="0" y="0"/>
                  </a:moveTo>
                  <a:lnTo>
                    <a:pt x="1539476" y="0"/>
                  </a:lnTo>
                  <a:lnTo>
                    <a:pt x="1539476" y="1011963"/>
                  </a:lnTo>
                  <a:lnTo>
                    <a:pt x="0" y="1011963"/>
                  </a:lnTo>
                  <a:close/>
                </a:path>
              </a:pathLst>
            </a:custGeom>
            <a:blipFill>
              <a:blip r:embed="rId3"/>
              <a:stretch>
                <a:fillRect l="-83" r="-83"/>
              </a:stretch>
            </a:blipFill>
          </p:spPr>
        </p:sp>
      </p:grpSp>
      <p:grpSp>
        <p:nvGrpSpPr>
          <p:cNvPr id="6" name="Group 6"/>
          <p:cNvGrpSpPr/>
          <p:nvPr/>
        </p:nvGrpSpPr>
        <p:grpSpPr>
          <a:xfrm>
            <a:off x="12172950" y="2457450"/>
            <a:ext cx="5448300" cy="3581400"/>
            <a:chOff x="0" y="0"/>
            <a:chExt cx="1539475" cy="1011963"/>
          </a:xfrm>
        </p:grpSpPr>
        <p:sp>
          <p:nvSpPr>
            <p:cNvPr id="7" name="Freeform 7"/>
            <p:cNvSpPr/>
            <p:nvPr/>
          </p:nvSpPr>
          <p:spPr>
            <a:xfrm>
              <a:off x="0" y="0"/>
              <a:ext cx="1539476" cy="1011963"/>
            </a:xfrm>
            <a:custGeom>
              <a:avLst/>
              <a:gdLst/>
              <a:ahLst/>
              <a:cxnLst/>
              <a:rect l="l" t="t" r="r" b="b"/>
              <a:pathLst>
                <a:path w="1539476" h="1011963">
                  <a:moveTo>
                    <a:pt x="0" y="0"/>
                  </a:moveTo>
                  <a:lnTo>
                    <a:pt x="1539476" y="0"/>
                  </a:lnTo>
                  <a:lnTo>
                    <a:pt x="1539476" y="1011963"/>
                  </a:lnTo>
                  <a:lnTo>
                    <a:pt x="0" y="1011963"/>
                  </a:lnTo>
                  <a:close/>
                </a:path>
              </a:pathLst>
            </a:custGeom>
            <a:blipFill>
              <a:blip r:embed="rId4"/>
              <a:stretch>
                <a:fillRect l="-83" r="-83"/>
              </a:stretch>
            </a:blipFill>
          </p:spPr>
        </p:sp>
      </p:grpSp>
      <p:sp>
        <p:nvSpPr>
          <p:cNvPr id="8" name="TextBox 8"/>
          <p:cNvSpPr txBox="1"/>
          <p:nvPr/>
        </p:nvSpPr>
        <p:spPr>
          <a:xfrm>
            <a:off x="666750" y="733425"/>
            <a:ext cx="16954500" cy="1149353"/>
          </a:xfrm>
          <a:prstGeom prst="rect">
            <a:avLst/>
          </a:prstGeom>
        </p:spPr>
        <p:txBody>
          <a:bodyPr lIns="0" tIns="0" rIns="0" bIns="0" rtlCol="0" anchor="t">
            <a:spAutoFit/>
          </a:bodyPr>
          <a:lstStyle/>
          <a:p>
            <a:pPr marL="0" lvl="0" indent="0" algn="l">
              <a:lnSpc>
                <a:spcPts val="8800"/>
              </a:lnSpc>
              <a:spcBef>
                <a:spcPct val="0"/>
              </a:spcBef>
            </a:pPr>
            <a:r>
              <a:rPr lang="en-US" sz="8000">
                <a:solidFill>
                  <a:srgbClr val="F0F3F5"/>
                </a:solidFill>
                <a:latin typeface="Georgia Pro Light"/>
                <a:ea typeface="Georgia Pro Light"/>
                <a:cs typeface="Georgia Pro Light"/>
                <a:sym typeface="Georgia Pro Light"/>
              </a:rPr>
              <a:t>System Architecture</a:t>
            </a:r>
          </a:p>
        </p:txBody>
      </p:sp>
      <p:grpSp>
        <p:nvGrpSpPr>
          <p:cNvPr id="9" name="Group 9"/>
          <p:cNvGrpSpPr/>
          <p:nvPr/>
        </p:nvGrpSpPr>
        <p:grpSpPr>
          <a:xfrm>
            <a:off x="6419850" y="6543040"/>
            <a:ext cx="5448300" cy="2343785"/>
            <a:chOff x="0" y="0"/>
            <a:chExt cx="7264400" cy="3125047"/>
          </a:xfrm>
        </p:grpSpPr>
        <p:sp>
          <p:nvSpPr>
            <p:cNvPr id="10" name="TextBox 10"/>
            <p:cNvSpPr txBox="1"/>
            <p:nvPr/>
          </p:nvSpPr>
          <p:spPr>
            <a:xfrm>
              <a:off x="0" y="512022"/>
              <a:ext cx="7264400" cy="525145"/>
            </a:xfrm>
            <a:prstGeom prst="rect">
              <a:avLst/>
            </a:prstGeom>
          </p:spPr>
          <p:txBody>
            <a:bodyPr lIns="0" tIns="0" rIns="0" bIns="0" rtlCol="0" anchor="t">
              <a:spAutoFit/>
            </a:bodyPr>
            <a:lstStyle/>
            <a:p>
              <a:pPr marL="0" lvl="0" indent="0" algn="l">
                <a:lnSpc>
                  <a:spcPts val="3359"/>
                </a:lnSpc>
              </a:pPr>
              <a:r>
                <a:rPr lang="en-US" sz="2400">
                  <a:solidFill>
                    <a:srgbClr val="F0F3F5"/>
                  </a:solidFill>
                  <a:latin typeface="DM Sans"/>
                  <a:ea typeface="DM Sans"/>
                  <a:cs typeface="DM Sans"/>
                  <a:sym typeface="DM Sans"/>
                </a:rPr>
                <a:t>System components</a:t>
              </a:r>
            </a:p>
          </p:txBody>
        </p:sp>
        <p:sp>
          <p:nvSpPr>
            <p:cNvPr id="11" name="TextBox 11"/>
            <p:cNvSpPr txBox="1"/>
            <p:nvPr/>
          </p:nvSpPr>
          <p:spPr>
            <a:xfrm>
              <a:off x="0" y="1662642"/>
              <a:ext cx="7264400" cy="1462405"/>
            </a:xfrm>
            <a:prstGeom prst="rect">
              <a:avLst/>
            </a:prstGeom>
          </p:spPr>
          <p:txBody>
            <a:bodyPr lIns="0" tIns="0" rIns="0" bIns="0" rtlCol="0" anchor="t">
              <a:spAutoFit/>
            </a:bodyPr>
            <a:lstStyle/>
            <a:p>
              <a:pPr marL="0" lvl="0" indent="0" algn="l">
                <a:lnSpc>
                  <a:spcPts val="2940"/>
                </a:lnSpc>
              </a:pPr>
              <a:r>
                <a:rPr lang="en-US" sz="2100">
                  <a:solidFill>
                    <a:srgbClr val="F0F3F5"/>
                  </a:solidFill>
                  <a:latin typeface="DM Sans"/>
                  <a:ea typeface="DM Sans"/>
                  <a:cs typeface="DM Sans"/>
                  <a:sym typeface="DM Sans"/>
                </a:rPr>
                <a:t>This visual highlights the interaction between various system components, ensuring efficient data handling.</a:t>
              </a:r>
            </a:p>
          </p:txBody>
        </p:sp>
        <p:sp>
          <p:nvSpPr>
            <p:cNvPr id="12" name="TextBox 12"/>
            <p:cNvSpPr txBox="1"/>
            <p:nvPr/>
          </p:nvSpPr>
          <p:spPr>
            <a:xfrm>
              <a:off x="0" y="-47625"/>
              <a:ext cx="7264400" cy="569172"/>
            </a:xfrm>
            <a:prstGeom prst="rect">
              <a:avLst/>
            </a:prstGeom>
          </p:spPr>
          <p:txBody>
            <a:bodyPr lIns="0" tIns="0" rIns="0" bIns="0" rtlCol="0" anchor="t">
              <a:spAutoFit/>
            </a:bodyPr>
            <a:lstStyle/>
            <a:p>
              <a:pPr marL="0" lvl="0" indent="0" algn="l">
                <a:lnSpc>
                  <a:spcPts val="3640"/>
                </a:lnSpc>
              </a:pPr>
              <a:r>
                <a:rPr lang="en-US" sz="2600" b="1">
                  <a:solidFill>
                    <a:srgbClr val="F0F3F5"/>
                  </a:solidFill>
                  <a:latin typeface="DM Sans Bold"/>
                  <a:ea typeface="DM Sans Bold"/>
                  <a:cs typeface="DM Sans Bold"/>
                  <a:sym typeface="DM Sans Bold"/>
                </a:rPr>
                <a:t>COMPONENT INTERACTION</a:t>
              </a:r>
            </a:p>
          </p:txBody>
        </p:sp>
      </p:grpSp>
      <p:grpSp>
        <p:nvGrpSpPr>
          <p:cNvPr id="13" name="Group 13"/>
          <p:cNvGrpSpPr/>
          <p:nvPr/>
        </p:nvGrpSpPr>
        <p:grpSpPr>
          <a:xfrm>
            <a:off x="666750" y="6543040"/>
            <a:ext cx="5448300" cy="2343785"/>
            <a:chOff x="0" y="0"/>
            <a:chExt cx="7264400" cy="3125047"/>
          </a:xfrm>
        </p:grpSpPr>
        <p:sp>
          <p:nvSpPr>
            <p:cNvPr id="14" name="TextBox 14"/>
            <p:cNvSpPr txBox="1"/>
            <p:nvPr/>
          </p:nvSpPr>
          <p:spPr>
            <a:xfrm>
              <a:off x="0" y="512022"/>
              <a:ext cx="7264400" cy="525145"/>
            </a:xfrm>
            <a:prstGeom prst="rect">
              <a:avLst/>
            </a:prstGeom>
          </p:spPr>
          <p:txBody>
            <a:bodyPr lIns="0" tIns="0" rIns="0" bIns="0" rtlCol="0" anchor="t">
              <a:spAutoFit/>
            </a:bodyPr>
            <a:lstStyle/>
            <a:p>
              <a:pPr marL="0" lvl="0" indent="0" algn="l">
                <a:lnSpc>
                  <a:spcPts val="3359"/>
                </a:lnSpc>
              </a:pPr>
              <a:r>
                <a:rPr lang="en-US" sz="2400">
                  <a:solidFill>
                    <a:srgbClr val="FFFFFF"/>
                  </a:solidFill>
                  <a:latin typeface="DM Sans"/>
                  <a:ea typeface="DM Sans"/>
                  <a:cs typeface="DM Sans"/>
                  <a:sym typeface="DM Sans"/>
                </a:rPr>
                <a:t>Visual representation</a:t>
              </a:r>
            </a:p>
          </p:txBody>
        </p:sp>
        <p:sp>
          <p:nvSpPr>
            <p:cNvPr id="15" name="TextBox 15"/>
            <p:cNvSpPr txBox="1"/>
            <p:nvPr/>
          </p:nvSpPr>
          <p:spPr>
            <a:xfrm>
              <a:off x="0" y="1662642"/>
              <a:ext cx="7264400" cy="14624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This diagram illustrates the seamless flow of data through the monitoring system architecture.</a:t>
              </a:r>
            </a:p>
          </p:txBody>
        </p:sp>
        <p:sp>
          <p:nvSpPr>
            <p:cNvPr id="16" name="TextBox 16"/>
            <p:cNvSpPr txBox="1"/>
            <p:nvPr/>
          </p:nvSpPr>
          <p:spPr>
            <a:xfrm>
              <a:off x="0" y="-47625"/>
              <a:ext cx="72644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DATA FLOW OVERVIEW</a:t>
              </a:r>
            </a:p>
          </p:txBody>
        </p:sp>
      </p:grpSp>
      <p:grpSp>
        <p:nvGrpSpPr>
          <p:cNvPr id="17" name="Group 17"/>
          <p:cNvGrpSpPr/>
          <p:nvPr/>
        </p:nvGrpSpPr>
        <p:grpSpPr>
          <a:xfrm>
            <a:off x="12172950" y="6543040"/>
            <a:ext cx="5448300" cy="2343785"/>
            <a:chOff x="0" y="0"/>
            <a:chExt cx="7264400" cy="3125047"/>
          </a:xfrm>
        </p:grpSpPr>
        <p:sp>
          <p:nvSpPr>
            <p:cNvPr id="18" name="TextBox 18"/>
            <p:cNvSpPr txBox="1"/>
            <p:nvPr/>
          </p:nvSpPr>
          <p:spPr>
            <a:xfrm>
              <a:off x="0" y="512022"/>
              <a:ext cx="7264400" cy="525145"/>
            </a:xfrm>
            <a:prstGeom prst="rect">
              <a:avLst/>
            </a:prstGeom>
          </p:spPr>
          <p:txBody>
            <a:bodyPr lIns="0" tIns="0" rIns="0" bIns="0" rtlCol="0" anchor="t">
              <a:spAutoFit/>
            </a:bodyPr>
            <a:lstStyle/>
            <a:p>
              <a:pPr marL="0" lvl="0" indent="0" algn="l">
                <a:lnSpc>
                  <a:spcPts val="3359"/>
                </a:lnSpc>
              </a:pPr>
              <a:r>
                <a:rPr lang="en-US" sz="2400">
                  <a:solidFill>
                    <a:srgbClr val="FFFFFF"/>
                  </a:solidFill>
                  <a:latin typeface="DM Sans"/>
                  <a:ea typeface="DM Sans"/>
                  <a:cs typeface="DM Sans"/>
                  <a:sym typeface="DM Sans"/>
                </a:rPr>
                <a:t>Data integration</a:t>
              </a:r>
            </a:p>
          </p:txBody>
        </p:sp>
        <p:sp>
          <p:nvSpPr>
            <p:cNvPr id="19" name="TextBox 19"/>
            <p:cNvSpPr txBox="1"/>
            <p:nvPr/>
          </p:nvSpPr>
          <p:spPr>
            <a:xfrm>
              <a:off x="0" y="1662642"/>
              <a:ext cx="7264400" cy="14624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This illustration represents the core concept of connectivity and data integration within the system architecture.</a:t>
              </a:r>
            </a:p>
          </p:txBody>
        </p:sp>
        <p:sp>
          <p:nvSpPr>
            <p:cNvPr id="20" name="TextBox 20"/>
            <p:cNvSpPr txBox="1"/>
            <p:nvPr/>
          </p:nvSpPr>
          <p:spPr>
            <a:xfrm>
              <a:off x="0" y="-47625"/>
              <a:ext cx="72644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CONNECTIVITY CONCEPT</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294555"/>
            <a:ext cx="7342546" cy="3999388"/>
            <a:chOff x="0" y="0"/>
            <a:chExt cx="9790062" cy="5332518"/>
          </a:xfrm>
        </p:grpSpPr>
        <p:sp>
          <p:nvSpPr>
            <p:cNvPr id="3" name="TextBox 3"/>
            <p:cNvSpPr txBox="1"/>
            <p:nvPr/>
          </p:nvSpPr>
          <p:spPr>
            <a:xfrm>
              <a:off x="0" y="1057714"/>
              <a:ext cx="9790062" cy="4274804"/>
            </a:xfrm>
            <a:prstGeom prst="rect">
              <a:avLst/>
            </a:prstGeom>
          </p:spPr>
          <p:txBody>
            <a:bodyPr lIns="0" tIns="0" rIns="0" bIns="0" rtlCol="0" anchor="t">
              <a:spAutoFit/>
            </a:bodyPr>
            <a:lstStyle/>
            <a:p>
              <a:pPr marL="669214" lvl="1" indent="-334607" algn="l">
                <a:lnSpc>
                  <a:spcPts val="4339"/>
                </a:lnSpc>
                <a:buFont typeface="Arial"/>
                <a:buChar char="•"/>
              </a:pPr>
              <a:r>
                <a:rPr lang="en-US" sz="3099">
                  <a:solidFill>
                    <a:srgbClr val="0A3D62"/>
                  </a:solidFill>
                  <a:latin typeface="DM Sans"/>
                  <a:ea typeface="DM Sans"/>
                  <a:cs typeface="DM Sans"/>
                  <a:sym typeface="DM Sans"/>
                </a:rPr>
                <a:t>Computer / Laptop</a:t>
              </a:r>
            </a:p>
            <a:p>
              <a:pPr marL="669214" lvl="1" indent="-334607" algn="l">
                <a:lnSpc>
                  <a:spcPts val="4339"/>
                </a:lnSpc>
                <a:buFont typeface="Arial"/>
                <a:buChar char="•"/>
              </a:pPr>
              <a:r>
                <a:rPr lang="en-US" sz="3099">
                  <a:solidFill>
                    <a:srgbClr val="0A3D62"/>
                  </a:solidFill>
                  <a:latin typeface="DM Sans"/>
                  <a:ea typeface="DM Sans"/>
                  <a:cs typeface="DM Sans"/>
                  <a:sym typeface="DM Sans"/>
                </a:rPr>
                <a:t>Minimum 4 GB RAM</a:t>
              </a:r>
            </a:p>
            <a:p>
              <a:pPr marL="669214" lvl="1" indent="-334607" algn="l">
                <a:lnSpc>
                  <a:spcPts val="4339"/>
                </a:lnSpc>
                <a:buFont typeface="Arial"/>
                <a:buChar char="•"/>
              </a:pPr>
              <a:r>
                <a:rPr lang="en-US" sz="3099">
                  <a:solidFill>
                    <a:srgbClr val="0A3D62"/>
                  </a:solidFill>
                  <a:latin typeface="DM Sans"/>
                  <a:ea typeface="DM Sans"/>
                  <a:cs typeface="DM Sans"/>
                  <a:sym typeface="DM Sans"/>
                </a:rPr>
                <a:t>100 GB Hard Disk (minimum)</a:t>
              </a:r>
            </a:p>
            <a:p>
              <a:pPr marL="669214" lvl="1" indent="-334607" algn="l">
                <a:lnSpc>
                  <a:spcPts val="4339"/>
                </a:lnSpc>
                <a:buFont typeface="Arial"/>
                <a:buChar char="•"/>
              </a:pPr>
              <a:r>
                <a:rPr lang="en-US" sz="3099">
                  <a:solidFill>
                    <a:srgbClr val="0A3D62"/>
                  </a:solidFill>
                  <a:latin typeface="DM Sans"/>
                  <a:ea typeface="DM Sans"/>
                  <a:cs typeface="DM Sans"/>
                  <a:sym typeface="DM Sans"/>
                </a:rPr>
                <a:t>Processor: Intel i3 or above</a:t>
              </a:r>
            </a:p>
            <a:p>
              <a:pPr marL="669214" lvl="1" indent="-334607" algn="l">
                <a:lnSpc>
                  <a:spcPts val="4339"/>
                </a:lnSpc>
                <a:buFont typeface="Arial"/>
                <a:buChar char="•"/>
              </a:pPr>
              <a:r>
                <a:rPr lang="en-US" sz="3099">
                  <a:solidFill>
                    <a:srgbClr val="0A3D62"/>
                  </a:solidFill>
                  <a:latin typeface="DM Sans"/>
                  <a:ea typeface="DM Sans"/>
                  <a:cs typeface="DM Sans"/>
                  <a:sym typeface="DM Sans"/>
                </a:rPr>
                <a:t>Keyboard and Monitor</a:t>
              </a:r>
            </a:p>
            <a:p>
              <a:pPr marL="0" lvl="0" indent="0" algn="l">
                <a:lnSpc>
                  <a:spcPts val="4339"/>
                </a:lnSpc>
              </a:pPr>
              <a:endParaRPr lang="en-US" sz="3099">
                <a:solidFill>
                  <a:srgbClr val="0A3D62"/>
                </a:solidFill>
                <a:latin typeface="DM Sans"/>
                <a:ea typeface="DM Sans"/>
                <a:cs typeface="DM Sans"/>
                <a:sym typeface="DM Sans"/>
              </a:endParaRPr>
            </a:p>
          </p:txBody>
        </p:sp>
        <p:sp>
          <p:nvSpPr>
            <p:cNvPr id="4" name="TextBox 4"/>
            <p:cNvSpPr txBox="1"/>
            <p:nvPr/>
          </p:nvSpPr>
          <p:spPr>
            <a:xfrm>
              <a:off x="0" y="-76200"/>
              <a:ext cx="9790062" cy="779076"/>
            </a:xfrm>
            <a:prstGeom prst="rect">
              <a:avLst/>
            </a:prstGeom>
          </p:spPr>
          <p:txBody>
            <a:bodyPr lIns="0" tIns="0" rIns="0" bIns="0" rtlCol="0" anchor="t">
              <a:spAutoFit/>
            </a:bodyPr>
            <a:lstStyle/>
            <a:p>
              <a:pPr algn="l">
                <a:lnSpc>
                  <a:spcPts val="4905"/>
                </a:lnSpc>
              </a:pPr>
              <a:r>
                <a:rPr lang="en-US" sz="3503" b="1">
                  <a:solidFill>
                    <a:srgbClr val="0A3D62"/>
                  </a:solidFill>
                  <a:latin typeface="DM Sans Bold"/>
                  <a:ea typeface="DM Sans Bold"/>
                  <a:cs typeface="DM Sans Bold"/>
                  <a:sym typeface="DM Sans Bold"/>
                </a:rPr>
                <a:t>HARDWARE REQUIREMENTS</a:t>
              </a:r>
            </a:p>
          </p:txBody>
        </p:sp>
      </p:grpSp>
      <p:grpSp>
        <p:nvGrpSpPr>
          <p:cNvPr id="5" name="Group 5"/>
          <p:cNvGrpSpPr/>
          <p:nvPr/>
        </p:nvGrpSpPr>
        <p:grpSpPr>
          <a:xfrm>
            <a:off x="9916754" y="2294555"/>
            <a:ext cx="7502781" cy="5077664"/>
            <a:chOff x="0" y="0"/>
            <a:chExt cx="10003708" cy="6770219"/>
          </a:xfrm>
        </p:grpSpPr>
        <p:sp>
          <p:nvSpPr>
            <p:cNvPr id="6" name="TextBox 6"/>
            <p:cNvSpPr txBox="1"/>
            <p:nvPr/>
          </p:nvSpPr>
          <p:spPr>
            <a:xfrm>
              <a:off x="0" y="1057714"/>
              <a:ext cx="10003708" cy="5712506"/>
            </a:xfrm>
            <a:prstGeom prst="rect">
              <a:avLst/>
            </a:prstGeom>
          </p:spPr>
          <p:txBody>
            <a:bodyPr lIns="0" tIns="0" rIns="0" bIns="0" rtlCol="0" anchor="t">
              <a:spAutoFit/>
            </a:bodyPr>
            <a:lstStyle/>
            <a:p>
              <a:pPr marL="669214" lvl="1" indent="-334607" algn="l">
                <a:lnSpc>
                  <a:spcPts val="4339"/>
                </a:lnSpc>
                <a:buFont typeface="Arial"/>
                <a:buChar char="•"/>
              </a:pPr>
              <a:r>
                <a:rPr lang="en-US" sz="3099">
                  <a:solidFill>
                    <a:srgbClr val="0A3D62"/>
                  </a:solidFill>
                  <a:latin typeface="DM Sans"/>
                  <a:ea typeface="DM Sans"/>
                  <a:cs typeface="DM Sans"/>
                  <a:sym typeface="DM Sans"/>
                </a:rPr>
                <a:t>Operating System: Windows / Linux / macOS</a:t>
              </a:r>
            </a:p>
            <a:p>
              <a:pPr marL="669214" lvl="1" indent="-334607" algn="l">
                <a:lnSpc>
                  <a:spcPts val="4339"/>
                </a:lnSpc>
                <a:buFont typeface="Arial"/>
                <a:buChar char="•"/>
              </a:pPr>
              <a:r>
                <a:rPr lang="en-US" sz="3099">
                  <a:solidFill>
                    <a:srgbClr val="0A3D62"/>
                  </a:solidFill>
                  <a:latin typeface="DM Sans"/>
                  <a:ea typeface="DM Sans"/>
                  <a:cs typeface="DM Sans"/>
                  <a:sym typeface="DM Sans"/>
                </a:rPr>
                <a:t>Programming Language: Python</a:t>
              </a:r>
            </a:p>
            <a:p>
              <a:pPr marL="669214" lvl="1" indent="-334607" algn="l">
                <a:lnSpc>
                  <a:spcPts val="4339"/>
                </a:lnSpc>
                <a:buFont typeface="Arial"/>
                <a:buChar char="•"/>
              </a:pPr>
              <a:r>
                <a:rPr lang="en-US" sz="3099">
                  <a:solidFill>
                    <a:srgbClr val="0A3D62"/>
                  </a:solidFill>
                  <a:latin typeface="DM Sans"/>
                  <a:ea typeface="DM Sans"/>
                  <a:cs typeface="DM Sans"/>
                  <a:sym typeface="DM Sans"/>
                </a:rPr>
                <a:t>Database: SQLite</a:t>
              </a:r>
            </a:p>
            <a:p>
              <a:pPr marL="669214" lvl="1" indent="-334607" algn="l">
                <a:lnSpc>
                  <a:spcPts val="4339"/>
                </a:lnSpc>
                <a:buFont typeface="Arial"/>
                <a:buChar char="•"/>
              </a:pPr>
              <a:r>
                <a:rPr lang="en-US" sz="3099">
                  <a:solidFill>
                    <a:srgbClr val="0A3D62"/>
                  </a:solidFill>
                  <a:latin typeface="DM Sans"/>
                  <a:ea typeface="DM Sans"/>
                  <a:cs typeface="DM Sans"/>
                  <a:sym typeface="DM Sans"/>
                </a:rPr>
                <a:t>IDE: VS Code / PyCharm / IDLE</a:t>
              </a:r>
            </a:p>
            <a:p>
              <a:pPr marL="669214" lvl="1" indent="-334607" algn="l">
                <a:lnSpc>
                  <a:spcPts val="4339"/>
                </a:lnSpc>
                <a:buFont typeface="Arial"/>
                <a:buChar char="•"/>
              </a:pPr>
              <a:r>
                <a:rPr lang="en-US" sz="3099">
                  <a:solidFill>
                    <a:srgbClr val="0A3D62"/>
                  </a:solidFill>
                  <a:latin typeface="DM Sans"/>
                  <a:ea typeface="DM Sans"/>
                  <a:cs typeface="DM Sans"/>
                  <a:sym typeface="DM Sans"/>
                </a:rPr>
                <a:t>Python Libraries: sqlite3 (built-in library)</a:t>
              </a:r>
            </a:p>
            <a:p>
              <a:pPr marL="0" lvl="0" indent="0" algn="l">
                <a:lnSpc>
                  <a:spcPts val="4339"/>
                </a:lnSpc>
              </a:pPr>
              <a:endParaRPr lang="en-US" sz="3099">
                <a:solidFill>
                  <a:srgbClr val="0A3D62"/>
                </a:solidFill>
                <a:latin typeface="DM Sans"/>
                <a:ea typeface="DM Sans"/>
                <a:cs typeface="DM Sans"/>
                <a:sym typeface="DM Sans"/>
              </a:endParaRPr>
            </a:p>
          </p:txBody>
        </p:sp>
        <p:sp>
          <p:nvSpPr>
            <p:cNvPr id="7" name="TextBox 7"/>
            <p:cNvSpPr txBox="1"/>
            <p:nvPr/>
          </p:nvSpPr>
          <p:spPr>
            <a:xfrm>
              <a:off x="0" y="-76200"/>
              <a:ext cx="10003708" cy="779076"/>
            </a:xfrm>
            <a:prstGeom prst="rect">
              <a:avLst/>
            </a:prstGeom>
          </p:spPr>
          <p:txBody>
            <a:bodyPr lIns="0" tIns="0" rIns="0" bIns="0" rtlCol="0" anchor="t">
              <a:spAutoFit/>
            </a:bodyPr>
            <a:lstStyle/>
            <a:p>
              <a:pPr algn="l">
                <a:lnSpc>
                  <a:spcPts val="4905"/>
                </a:lnSpc>
              </a:pPr>
              <a:r>
                <a:rPr lang="en-US" sz="3503" b="1">
                  <a:solidFill>
                    <a:srgbClr val="0A3D62"/>
                  </a:solidFill>
                  <a:latin typeface="DM Sans Bold"/>
                  <a:ea typeface="DM Sans Bold"/>
                  <a:cs typeface="DM Sans Bold"/>
                  <a:sym typeface="DM Sans Bold"/>
                </a:rPr>
                <a:t>SOFTWARE REQUIREMENTS </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3F5"/>
        </a:solidFill>
        <a:effectLst/>
      </p:bgPr>
    </p:bg>
    <p:spTree>
      <p:nvGrpSpPr>
        <p:cNvPr id="1" name=""/>
        <p:cNvGrpSpPr/>
        <p:nvPr/>
      </p:nvGrpSpPr>
      <p:grpSpPr>
        <a:xfrm>
          <a:off x="0" y="0"/>
          <a:ext cx="0" cy="0"/>
          <a:chOff x="0" y="0"/>
          <a:chExt cx="0" cy="0"/>
        </a:xfrm>
      </p:grpSpPr>
      <p:sp>
        <p:nvSpPr>
          <p:cNvPr id="2" name="TextBox 2"/>
          <p:cNvSpPr txBox="1"/>
          <p:nvPr/>
        </p:nvSpPr>
        <p:spPr>
          <a:xfrm>
            <a:off x="666750" y="733425"/>
            <a:ext cx="16954500" cy="1149353"/>
          </a:xfrm>
          <a:prstGeom prst="rect">
            <a:avLst/>
          </a:prstGeom>
        </p:spPr>
        <p:txBody>
          <a:bodyPr lIns="0" tIns="0" rIns="0" bIns="0" rtlCol="0" anchor="t">
            <a:spAutoFit/>
          </a:bodyPr>
          <a:lstStyle/>
          <a:p>
            <a:pPr marL="0" lvl="0" indent="0" algn="l">
              <a:lnSpc>
                <a:spcPts val="8800"/>
              </a:lnSpc>
              <a:spcBef>
                <a:spcPct val="0"/>
              </a:spcBef>
            </a:pPr>
            <a:r>
              <a:rPr lang="en-US" sz="8000">
                <a:solidFill>
                  <a:srgbClr val="0A3D62"/>
                </a:solidFill>
                <a:latin typeface="Georgia Pro Light"/>
                <a:ea typeface="Georgia Pro Light"/>
                <a:cs typeface="Georgia Pro Light"/>
                <a:sym typeface="Georgia Pro Light"/>
              </a:rPr>
              <a:t>Database Structure</a:t>
            </a:r>
          </a:p>
        </p:txBody>
      </p:sp>
      <p:grpSp>
        <p:nvGrpSpPr>
          <p:cNvPr id="3" name="Group 3"/>
          <p:cNvGrpSpPr/>
          <p:nvPr/>
        </p:nvGrpSpPr>
        <p:grpSpPr>
          <a:xfrm>
            <a:off x="6419850" y="2457450"/>
            <a:ext cx="5448300" cy="3581400"/>
            <a:chOff x="0" y="0"/>
            <a:chExt cx="1539475" cy="1011963"/>
          </a:xfrm>
        </p:grpSpPr>
        <p:sp>
          <p:nvSpPr>
            <p:cNvPr id="4" name="Freeform 4"/>
            <p:cNvSpPr/>
            <p:nvPr/>
          </p:nvSpPr>
          <p:spPr>
            <a:xfrm>
              <a:off x="0" y="0"/>
              <a:ext cx="1539476" cy="1011963"/>
            </a:xfrm>
            <a:custGeom>
              <a:avLst/>
              <a:gdLst/>
              <a:ahLst/>
              <a:cxnLst/>
              <a:rect l="l" t="t" r="r" b="b"/>
              <a:pathLst>
                <a:path w="1539476" h="1011963">
                  <a:moveTo>
                    <a:pt x="0" y="0"/>
                  </a:moveTo>
                  <a:lnTo>
                    <a:pt x="1539476" y="0"/>
                  </a:lnTo>
                  <a:lnTo>
                    <a:pt x="1539476" y="1011963"/>
                  </a:lnTo>
                  <a:lnTo>
                    <a:pt x="0" y="1011963"/>
                  </a:lnTo>
                  <a:close/>
                </a:path>
              </a:pathLst>
            </a:custGeom>
            <a:blipFill>
              <a:blip r:embed="rId2"/>
              <a:stretch>
                <a:fillRect l="-83" r="-83"/>
              </a:stretch>
            </a:blipFill>
          </p:spPr>
        </p:sp>
      </p:grpSp>
      <p:grpSp>
        <p:nvGrpSpPr>
          <p:cNvPr id="5" name="Group 5"/>
          <p:cNvGrpSpPr/>
          <p:nvPr/>
        </p:nvGrpSpPr>
        <p:grpSpPr>
          <a:xfrm>
            <a:off x="12172950" y="2457450"/>
            <a:ext cx="5448300" cy="3581400"/>
            <a:chOff x="0" y="0"/>
            <a:chExt cx="1539475" cy="1011963"/>
          </a:xfrm>
        </p:grpSpPr>
        <p:sp>
          <p:nvSpPr>
            <p:cNvPr id="6" name="Freeform 6"/>
            <p:cNvSpPr/>
            <p:nvPr/>
          </p:nvSpPr>
          <p:spPr>
            <a:xfrm>
              <a:off x="0" y="0"/>
              <a:ext cx="1539476" cy="1011963"/>
            </a:xfrm>
            <a:custGeom>
              <a:avLst/>
              <a:gdLst/>
              <a:ahLst/>
              <a:cxnLst/>
              <a:rect l="l" t="t" r="r" b="b"/>
              <a:pathLst>
                <a:path w="1539476" h="1011963">
                  <a:moveTo>
                    <a:pt x="0" y="0"/>
                  </a:moveTo>
                  <a:lnTo>
                    <a:pt x="1539476" y="0"/>
                  </a:lnTo>
                  <a:lnTo>
                    <a:pt x="1539476" y="1011963"/>
                  </a:lnTo>
                  <a:lnTo>
                    <a:pt x="0" y="1011963"/>
                  </a:lnTo>
                  <a:close/>
                </a:path>
              </a:pathLst>
            </a:custGeom>
            <a:blipFill>
              <a:blip r:embed="rId3"/>
              <a:stretch>
                <a:fillRect l="-83" r="-83"/>
              </a:stretch>
            </a:blipFill>
          </p:spPr>
        </p:sp>
      </p:grpSp>
      <p:grpSp>
        <p:nvGrpSpPr>
          <p:cNvPr id="7" name="Group 7"/>
          <p:cNvGrpSpPr/>
          <p:nvPr/>
        </p:nvGrpSpPr>
        <p:grpSpPr>
          <a:xfrm>
            <a:off x="12172950" y="6543040"/>
            <a:ext cx="5448300" cy="2343785"/>
            <a:chOff x="0" y="0"/>
            <a:chExt cx="7264400" cy="3125047"/>
          </a:xfrm>
        </p:grpSpPr>
        <p:sp>
          <p:nvSpPr>
            <p:cNvPr id="8" name="TextBox 8"/>
            <p:cNvSpPr txBox="1"/>
            <p:nvPr/>
          </p:nvSpPr>
          <p:spPr>
            <a:xfrm>
              <a:off x="0" y="512022"/>
              <a:ext cx="7264400" cy="525145"/>
            </a:xfrm>
            <a:prstGeom prst="rect">
              <a:avLst/>
            </a:prstGeom>
          </p:spPr>
          <p:txBody>
            <a:bodyPr lIns="0" tIns="0" rIns="0" bIns="0" rtlCol="0" anchor="t">
              <a:spAutoFit/>
            </a:bodyPr>
            <a:lstStyle/>
            <a:p>
              <a:pPr marL="0" lvl="0" indent="0" algn="l">
                <a:lnSpc>
                  <a:spcPts val="3359"/>
                </a:lnSpc>
              </a:pPr>
              <a:r>
                <a:rPr lang="en-US" sz="2400">
                  <a:solidFill>
                    <a:srgbClr val="0A3D62"/>
                  </a:solidFill>
                  <a:latin typeface="DM Sans"/>
                  <a:ea typeface="DM Sans"/>
                  <a:cs typeface="DM Sans"/>
                  <a:sym typeface="DM Sans"/>
                </a:rPr>
                <a:t>Input and output</a:t>
              </a:r>
            </a:p>
          </p:txBody>
        </p:sp>
        <p:sp>
          <p:nvSpPr>
            <p:cNvPr id="9" name="TextBox 9"/>
            <p:cNvSpPr txBox="1"/>
            <p:nvPr/>
          </p:nvSpPr>
          <p:spPr>
            <a:xfrm>
              <a:off x="0" y="1662642"/>
              <a:ext cx="7264400" cy="1462405"/>
            </a:xfrm>
            <a:prstGeom prst="rect">
              <a:avLst/>
            </a:prstGeom>
          </p:spPr>
          <p:txBody>
            <a:bodyPr lIns="0" tIns="0" rIns="0" bIns="0" rtlCol="0" anchor="t">
              <a:spAutoFit/>
            </a:bodyPr>
            <a:lstStyle/>
            <a:p>
              <a:pPr marL="0" lvl="0" indent="0" algn="l">
                <a:lnSpc>
                  <a:spcPts val="2940"/>
                </a:lnSpc>
              </a:pPr>
              <a:r>
                <a:rPr lang="en-US" sz="2100">
                  <a:solidFill>
                    <a:srgbClr val="0A3D62"/>
                  </a:solidFill>
                  <a:latin typeface="DM Sans"/>
                  <a:ea typeface="DM Sans"/>
                  <a:cs typeface="DM Sans"/>
                  <a:sym typeface="DM Sans"/>
                </a:rPr>
                <a:t>This image showcases the flow of data within the database, highlighting its dynamic nature.</a:t>
              </a:r>
            </a:p>
          </p:txBody>
        </p:sp>
        <p:sp>
          <p:nvSpPr>
            <p:cNvPr id="10" name="TextBox 10"/>
            <p:cNvSpPr txBox="1"/>
            <p:nvPr/>
          </p:nvSpPr>
          <p:spPr>
            <a:xfrm>
              <a:off x="0" y="-47625"/>
              <a:ext cx="7264400" cy="569172"/>
            </a:xfrm>
            <a:prstGeom prst="rect">
              <a:avLst/>
            </a:prstGeom>
          </p:spPr>
          <p:txBody>
            <a:bodyPr lIns="0" tIns="0" rIns="0" bIns="0" rtlCol="0" anchor="t">
              <a:spAutoFit/>
            </a:bodyPr>
            <a:lstStyle/>
            <a:p>
              <a:pPr marL="0" lvl="0" indent="0" algn="l">
                <a:lnSpc>
                  <a:spcPts val="3640"/>
                </a:lnSpc>
              </a:pPr>
              <a:r>
                <a:rPr lang="en-US" sz="2600" b="1">
                  <a:solidFill>
                    <a:srgbClr val="0A3D62"/>
                  </a:solidFill>
                  <a:latin typeface="DM Sans Bold"/>
                  <a:ea typeface="DM Sans Bold"/>
                  <a:cs typeface="DM Sans Bold"/>
                  <a:sym typeface="DM Sans Bold"/>
                </a:rPr>
                <a:t>DATA FLOW</a:t>
              </a:r>
            </a:p>
          </p:txBody>
        </p:sp>
      </p:grpSp>
      <p:grpSp>
        <p:nvGrpSpPr>
          <p:cNvPr id="11" name="Group 11"/>
          <p:cNvGrpSpPr/>
          <p:nvPr/>
        </p:nvGrpSpPr>
        <p:grpSpPr>
          <a:xfrm>
            <a:off x="6419850" y="6543040"/>
            <a:ext cx="5448300" cy="2343785"/>
            <a:chOff x="0" y="0"/>
            <a:chExt cx="7264400" cy="3125047"/>
          </a:xfrm>
        </p:grpSpPr>
        <p:sp>
          <p:nvSpPr>
            <p:cNvPr id="12" name="TextBox 12"/>
            <p:cNvSpPr txBox="1"/>
            <p:nvPr/>
          </p:nvSpPr>
          <p:spPr>
            <a:xfrm>
              <a:off x="0" y="512022"/>
              <a:ext cx="7264400" cy="525145"/>
            </a:xfrm>
            <a:prstGeom prst="rect">
              <a:avLst/>
            </a:prstGeom>
          </p:spPr>
          <p:txBody>
            <a:bodyPr lIns="0" tIns="0" rIns="0" bIns="0" rtlCol="0" anchor="t">
              <a:spAutoFit/>
            </a:bodyPr>
            <a:lstStyle/>
            <a:p>
              <a:pPr marL="0" lvl="0" indent="0" algn="l">
                <a:lnSpc>
                  <a:spcPts val="3359"/>
                </a:lnSpc>
              </a:pPr>
              <a:r>
                <a:rPr lang="en-US" sz="2400">
                  <a:solidFill>
                    <a:srgbClr val="0A3D62"/>
                  </a:solidFill>
                  <a:latin typeface="DM Sans"/>
                  <a:ea typeface="DM Sans"/>
                  <a:cs typeface="DM Sans"/>
                  <a:sym typeface="DM Sans"/>
                </a:rPr>
                <a:t>Tables and fields</a:t>
              </a:r>
            </a:p>
          </p:txBody>
        </p:sp>
        <p:sp>
          <p:nvSpPr>
            <p:cNvPr id="13" name="TextBox 13"/>
            <p:cNvSpPr txBox="1"/>
            <p:nvPr/>
          </p:nvSpPr>
          <p:spPr>
            <a:xfrm>
              <a:off x="0" y="1662642"/>
              <a:ext cx="7264400" cy="1462405"/>
            </a:xfrm>
            <a:prstGeom prst="rect">
              <a:avLst/>
            </a:prstGeom>
          </p:spPr>
          <p:txBody>
            <a:bodyPr lIns="0" tIns="0" rIns="0" bIns="0" rtlCol="0" anchor="t">
              <a:spAutoFit/>
            </a:bodyPr>
            <a:lstStyle/>
            <a:p>
              <a:pPr marL="0" lvl="0" indent="0" algn="l">
                <a:lnSpc>
                  <a:spcPts val="2940"/>
                </a:lnSpc>
              </a:pPr>
              <a:r>
                <a:rPr lang="en-US" sz="2100">
                  <a:solidFill>
                    <a:srgbClr val="0A3D62"/>
                  </a:solidFill>
                  <a:latin typeface="DM Sans"/>
                  <a:ea typeface="DM Sans"/>
                  <a:cs typeface="DM Sans"/>
                  <a:sym typeface="DM Sans"/>
                </a:rPr>
                <a:t>This illustration visually represents the structure of the database used for the bus monitoring system.</a:t>
              </a:r>
            </a:p>
          </p:txBody>
        </p:sp>
        <p:sp>
          <p:nvSpPr>
            <p:cNvPr id="14" name="TextBox 14"/>
            <p:cNvSpPr txBox="1"/>
            <p:nvPr/>
          </p:nvSpPr>
          <p:spPr>
            <a:xfrm>
              <a:off x="0" y="-47625"/>
              <a:ext cx="7264400" cy="569172"/>
            </a:xfrm>
            <a:prstGeom prst="rect">
              <a:avLst/>
            </a:prstGeom>
          </p:spPr>
          <p:txBody>
            <a:bodyPr lIns="0" tIns="0" rIns="0" bIns="0" rtlCol="0" anchor="t">
              <a:spAutoFit/>
            </a:bodyPr>
            <a:lstStyle/>
            <a:p>
              <a:pPr marL="0" lvl="0" indent="0" algn="l">
                <a:lnSpc>
                  <a:spcPts val="3640"/>
                </a:lnSpc>
              </a:pPr>
              <a:r>
                <a:rPr lang="en-US" sz="2600" b="1">
                  <a:solidFill>
                    <a:srgbClr val="0A3D62"/>
                  </a:solidFill>
                  <a:latin typeface="DM Sans Bold"/>
                  <a:ea typeface="DM Sans Bold"/>
                  <a:cs typeface="DM Sans Bold"/>
                  <a:sym typeface="DM Sans Bold"/>
                </a:rPr>
                <a:t>DATABASE SCHEMA</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3D62"/>
        </a:solidFill>
        <a:effectLst/>
      </p:bgPr>
    </p:bg>
    <p:spTree>
      <p:nvGrpSpPr>
        <p:cNvPr id="1" name=""/>
        <p:cNvGrpSpPr/>
        <p:nvPr/>
      </p:nvGrpSpPr>
      <p:grpSpPr>
        <a:xfrm>
          <a:off x="0" y="0"/>
          <a:ext cx="0" cy="0"/>
          <a:chOff x="0" y="0"/>
          <a:chExt cx="0" cy="0"/>
        </a:xfrm>
      </p:grpSpPr>
      <p:grpSp>
        <p:nvGrpSpPr>
          <p:cNvPr id="2" name="Group 2"/>
          <p:cNvGrpSpPr/>
          <p:nvPr/>
        </p:nvGrpSpPr>
        <p:grpSpPr>
          <a:xfrm>
            <a:off x="666750" y="2457450"/>
            <a:ext cx="7191375" cy="1612850"/>
            <a:chOff x="0" y="0"/>
            <a:chExt cx="9588500" cy="2150467"/>
          </a:xfrm>
        </p:grpSpPr>
        <p:sp>
          <p:nvSpPr>
            <p:cNvPr id="3" name="TextBox 3"/>
            <p:cNvSpPr txBox="1"/>
            <p:nvPr/>
          </p:nvSpPr>
          <p:spPr>
            <a:xfrm>
              <a:off x="0" y="1183362"/>
              <a:ext cx="9588500" cy="9671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Provides real-time updates about bus locations and schedules for users' convenience.</a:t>
              </a:r>
            </a:p>
          </p:txBody>
        </p:sp>
        <p:sp>
          <p:nvSpPr>
            <p:cNvPr id="4" name="TextBox 4"/>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DYNAMIC DATA</a:t>
              </a:r>
            </a:p>
          </p:txBody>
        </p:sp>
      </p:grpSp>
      <p:grpSp>
        <p:nvGrpSpPr>
          <p:cNvPr id="5" name="Group 5"/>
          <p:cNvGrpSpPr/>
          <p:nvPr/>
        </p:nvGrpSpPr>
        <p:grpSpPr>
          <a:xfrm>
            <a:off x="666750" y="5165675"/>
            <a:ext cx="7191375" cy="1612850"/>
            <a:chOff x="0" y="0"/>
            <a:chExt cx="9588500" cy="2150467"/>
          </a:xfrm>
        </p:grpSpPr>
        <p:sp>
          <p:nvSpPr>
            <p:cNvPr id="6" name="TextBox 6"/>
            <p:cNvSpPr txBox="1"/>
            <p:nvPr/>
          </p:nvSpPr>
          <p:spPr>
            <a:xfrm>
              <a:off x="0" y="1183362"/>
              <a:ext cx="9588500" cy="9671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Users experience immediate access to bus arrival times and locations, improving satisfaction.</a:t>
              </a:r>
            </a:p>
          </p:txBody>
        </p:sp>
        <p:sp>
          <p:nvSpPr>
            <p:cNvPr id="7" name="TextBox 7"/>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REAL-TIME FEEL</a:t>
              </a:r>
            </a:p>
          </p:txBody>
        </p:sp>
      </p:grpSp>
      <p:grpSp>
        <p:nvGrpSpPr>
          <p:cNvPr id="8" name="Group 8"/>
          <p:cNvGrpSpPr/>
          <p:nvPr/>
        </p:nvGrpSpPr>
        <p:grpSpPr>
          <a:xfrm>
            <a:off x="666750" y="7829550"/>
            <a:ext cx="7191375" cy="1612850"/>
            <a:chOff x="0" y="0"/>
            <a:chExt cx="9588500" cy="2150467"/>
          </a:xfrm>
        </p:grpSpPr>
        <p:sp>
          <p:nvSpPr>
            <p:cNvPr id="9" name="TextBox 9"/>
            <p:cNvSpPr txBox="1"/>
            <p:nvPr/>
          </p:nvSpPr>
          <p:spPr>
            <a:xfrm>
              <a:off x="0" y="1183362"/>
              <a:ext cx="9588500" cy="9671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The architecture allows for future expansions and integrations with minimal disruption to services.</a:t>
              </a:r>
            </a:p>
          </p:txBody>
        </p:sp>
        <p:sp>
          <p:nvSpPr>
            <p:cNvPr id="10" name="TextBox 10"/>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SCALABLE SYSTEM</a:t>
              </a:r>
            </a:p>
          </p:txBody>
        </p:sp>
      </p:grpSp>
      <p:grpSp>
        <p:nvGrpSpPr>
          <p:cNvPr id="11" name="Group 11"/>
          <p:cNvGrpSpPr/>
          <p:nvPr/>
        </p:nvGrpSpPr>
        <p:grpSpPr>
          <a:xfrm>
            <a:off x="9296400" y="2457450"/>
            <a:ext cx="7191375" cy="1612850"/>
            <a:chOff x="0" y="0"/>
            <a:chExt cx="9588500" cy="2150467"/>
          </a:xfrm>
        </p:grpSpPr>
        <p:sp>
          <p:nvSpPr>
            <p:cNvPr id="12" name="TextBox 12"/>
            <p:cNvSpPr txBox="1"/>
            <p:nvPr/>
          </p:nvSpPr>
          <p:spPr>
            <a:xfrm>
              <a:off x="0" y="1183362"/>
              <a:ext cx="9588500" cy="9671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Changes to bus information can be made quickly within the database, enhancing flexibility.</a:t>
              </a:r>
            </a:p>
          </p:txBody>
        </p:sp>
        <p:sp>
          <p:nvSpPr>
            <p:cNvPr id="13" name="TextBox 13"/>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EASY UPDATES</a:t>
              </a:r>
            </a:p>
          </p:txBody>
        </p:sp>
      </p:grpSp>
      <p:grpSp>
        <p:nvGrpSpPr>
          <p:cNvPr id="14" name="Group 14"/>
          <p:cNvGrpSpPr/>
          <p:nvPr/>
        </p:nvGrpSpPr>
        <p:grpSpPr>
          <a:xfrm>
            <a:off x="9296400" y="5165675"/>
            <a:ext cx="7191375" cy="1612850"/>
            <a:chOff x="0" y="0"/>
            <a:chExt cx="9588500" cy="2150467"/>
          </a:xfrm>
        </p:grpSpPr>
        <p:sp>
          <p:nvSpPr>
            <p:cNvPr id="15" name="TextBox 15"/>
            <p:cNvSpPr txBox="1"/>
            <p:nvPr/>
          </p:nvSpPr>
          <p:spPr>
            <a:xfrm>
              <a:off x="0" y="1183362"/>
              <a:ext cx="9588500" cy="967105"/>
            </a:xfrm>
            <a:prstGeom prst="rect">
              <a:avLst/>
            </a:prstGeom>
          </p:spPr>
          <p:txBody>
            <a:bodyPr lIns="0" tIns="0" rIns="0" bIns="0" rtlCol="0" anchor="t">
              <a:spAutoFit/>
            </a:bodyPr>
            <a:lstStyle/>
            <a:p>
              <a:pPr marL="0" lvl="0" indent="0" algn="l">
                <a:lnSpc>
                  <a:spcPts val="2940"/>
                </a:lnSpc>
              </a:pPr>
              <a:r>
                <a:rPr lang="en-US" sz="2100">
                  <a:solidFill>
                    <a:srgbClr val="FFFFFF"/>
                  </a:solidFill>
                  <a:latin typeface="DM Sans"/>
                  <a:ea typeface="DM Sans"/>
                  <a:cs typeface="DM Sans"/>
                  <a:sym typeface="DM Sans"/>
                </a:rPr>
                <a:t>The system presents a polished and modern interface, enhancing user trust and reliability.</a:t>
              </a:r>
            </a:p>
          </p:txBody>
        </p:sp>
        <p:sp>
          <p:nvSpPr>
            <p:cNvPr id="16" name="TextBox 16"/>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FFFFFF"/>
                  </a:solidFill>
                  <a:latin typeface="DM Sans Bold"/>
                  <a:ea typeface="DM Sans Bold"/>
                  <a:cs typeface="DM Sans Bold"/>
                  <a:sym typeface="DM Sans Bold"/>
                </a:rPr>
                <a:t>PROFESSIONAL SYSTEM</a:t>
              </a:r>
            </a:p>
          </p:txBody>
        </p:sp>
      </p:grpSp>
      <p:sp>
        <p:nvSpPr>
          <p:cNvPr id="17" name="TextBox 17"/>
          <p:cNvSpPr txBox="1"/>
          <p:nvPr/>
        </p:nvSpPr>
        <p:spPr>
          <a:xfrm>
            <a:off x="666750" y="733425"/>
            <a:ext cx="16954500" cy="1149353"/>
          </a:xfrm>
          <a:prstGeom prst="rect">
            <a:avLst/>
          </a:prstGeom>
        </p:spPr>
        <p:txBody>
          <a:bodyPr lIns="0" tIns="0" rIns="0" bIns="0" rtlCol="0" anchor="t">
            <a:spAutoFit/>
          </a:bodyPr>
          <a:lstStyle/>
          <a:p>
            <a:pPr marL="0" lvl="0" indent="0" algn="l">
              <a:lnSpc>
                <a:spcPts val="8800"/>
              </a:lnSpc>
              <a:spcBef>
                <a:spcPct val="0"/>
              </a:spcBef>
            </a:pPr>
            <a:r>
              <a:rPr lang="en-US" sz="8000">
                <a:solidFill>
                  <a:srgbClr val="FFFFFF"/>
                </a:solidFill>
                <a:latin typeface="Georgia Pro Light"/>
                <a:ea typeface="Georgia Pro Light"/>
                <a:cs typeface="Georgia Pro Light"/>
                <a:sym typeface="Georgia Pro Light"/>
              </a:rPr>
              <a:t>Advantages of the System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5982225"/>
            <a:ext cx="7191375" cy="2324100"/>
            <a:chOff x="0" y="0"/>
            <a:chExt cx="9588500" cy="3098800"/>
          </a:xfrm>
        </p:grpSpPr>
        <p:sp>
          <p:nvSpPr>
            <p:cNvPr id="3" name="TextBox 3"/>
            <p:cNvSpPr txBox="1"/>
            <p:nvPr/>
          </p:nvSpPr>
          <p:spPr>
            <a:xfrm>
              <a:off x="0" y="1141095"/>
              <a:ext cx="9588500" cy="1957705"/>
            </a:xfrm>
            <a:prstGeom prst="rect">
              <a:avLst/>
            </a:prstGeom>
          </p:spPr>
          <p:txBody>
            <a:bodyPr lIns="0" tIns="0" rIns="0" bIns="0" rtlCol="0" anchor="t">
              <a:spAutoFit/>
            </a:bodyPr>
            <a:lstStyle/>
            <a:p>
              <a:pPr marL="0" lvl="0" indent="0" algn="l">
                <a:lnSpc>
                  <a:spcPts val="2940"/>
                </a:lnSpc>
              </a:pPr>
              <a:r>
                <a:rPr lang="en-US" sz="2100">
                  <a:solidFill>
                    <a:srgbClr val="0A3D62"/>
                  </a:solidFill>
                  <a:latin typeface="DM Sans"/>
                  <a:ea typeface="DM Sans"/>
                  <a:cs typeface="DM Sans"/>
                  <a:sym typeface="DM Sans"/>
                </a:rPr>
                <a:t>Implementing SMS alert notifications will keep users informed regarding bus arrivals and delays, ensuring that they receive timely updates directly to their mobile devices.</a:t>
              </a:r>
            </a:p>
          </p:txBody>
        </p:sp>
        <p:sp>
          <p:nvSpPr>
            <p:cNvPr id="4" name="TextBox 4"/>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0A3D62"/>
                  </a:solidFill>
                  <a:latin typeface="DM Sans Bold"/>
                  <a:ea typeface="DM Sans Bold"/>
                  <a:cs typeface="DM Sans Bold"/>
                  <a:sym typeface="DM Sans Bold"/>
                </a:rPr>
                <a:t>SMS ALERTS</a:t>
              </a:r>
            </a:p>
          </p:txBody>
        </p:sp>
      </p:grpSp>
      <p:grpSp>
        <p:nvGrpSpPr>
          <p:cNvPr id="5" name="Group 5"/>
          <p:cNvGrpSpPr/>
          <p:nvPr/>
        </p:nvGrpSpPr>
        <p:grpSpPr>
          <a:xfrm>
            <a:off x="9296400" y="5982225"/>
            <a:ext cx="7191375" cy="2324100"/>
            <a:chOff x="0" y="0"/>
            <a:chExt cx="9588500" cy="3098800"/>
          </a:xfrm>
        </p:grpSpPr>
        <p:sp>
          <p:nvSpPr>
            <p:cNvPr id="6" name="TextBox 6"/>
            <p:cNvSpPr txBox="1"/>
            <p:nvPr/>
          </p:nvSpPr>
          <p:spPr>
            <a:xfrm>
              <a:off x="0" y="1141095"/>
              <a:ext cx="9588500" cy="1957705"/>
            </a:xfrm>
            <a:prstGeom prst="rect">
              <a:avLst/>
            </a:prstGeom>
          </p:spPr>
          <p:txBody>
            <a:bodyPr lIns="0" tIns="0" rIns="0" bIns="0" rtlCol="0" anchor="t">
              <a:spAutoFit/>
            </a:bodyPr>
            <a:lstStyle/>
            <a:p>
              <a:pPr marL="0" lvl="0" indent="0" algn="l">
                <a:lnSpc>
                  <a:spcPts val="2940"/>
                </a:lnSpc>
              </a:pPr>
              <a:r>
                <a:rPr lang="en-US" sz="2100">
                  <a:solidFill>
                    <a:srgbClr val="0A3D62"/>
                  </a:solidFill>
                  <a:latin typeface="DM Sans"/>
                  <a:ea typeface="DM Sans"/>
                  <a:cs typeface="DM Sans"/>
                  <a:sym typeface="DM Sans"/>
                </a:rPr>
                <a:t>A web-based dashboard will allow administrators to monitor bus statuses effectively, manage schedules, and provide valuable insights into usage patterns and service optimization.</a:t>
              </a:r>
            </a:p>
          </p:txBody>
        </p:sp>
        <p:sp>
          <p:nvSpPr>
            <p:cNvPr id="7" name="TextBox 7"/>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0A3D62"/>
                  </a:solidFill>
                  <a:latin typeface="DM Sans Bold"/>
                  <a:ea typeface="DM Sans Bold"/>
                  <a:cs typeface="DM Sans Bold"/>
                  <a:sym typeface="DM Sans Bold"/>
                </a:rPr>
                <a:t>WEB DASHBOARD</a:t>
              </a:r>
            </a:p>
          </p:txBody>
        </p:sp>
      </p:grpSp>
      <p:grpSp>
        <p:nvGrpSpPr>
          <p:cNvPr id="8" name="Group 8"/>
          <p:cNvGrpSpPr/>
          <p:nvPr/>
        </p:nvGrpSpPr>
        <p:grpSpPr>
          <a:xfrm>
            <a:off x="666750" y="2934225"/>
            <a:ext cx="7191375" cy="1939925"/>
            <a:chOff x="0" y="0"/>
            <a:chExt cx="9588500" cy="2586567"/>
          </a:xfrm>
        </p:grpSpPr>
        <p:sp>
          <p:nvSpPr>
            <p:cNvPr id="9" name="TextBox 9"/>
            <p:cNvSpPr txBox="1"/>
            <p:nvPr/>
          </p:nvSpPr>
          <p:spPr>
            <a:xfrm>
              <a:off x="0" y="1124162"/>
              <a:ext cx="9588500" cy="1462405"/>
            </a:xfrm>
            <a:prstGeom prst="rect">
              <a:avLst/>
            </a:prstGeom>
          </p:spPr>
          <p:txBody>
            <a:bodyPr lIns="0" tIns="0" rIns="0" bIns="0" rtlCol="0" anchor="t">
              <a:spAutoFit/>
            </a:bodyPr>
            <a:lstStyle/>
            <a:p>
              <a:pPr marL="0" lvl="0" indent="0" algn="l">
                <a:lnSpc>
                  <a:spcPts val="2940"/>
                </a:lnSpc>
              </a:pPr>
              <a:r>
                <a:rPr lang="en-US" sz="2100">
                  <a:solidFill>
                    <a:srgbClr val="0A3D62"/>
                  </a:solidFill>
                  <a:latin typeface="DM Sans"/>
                  <a:ea typeface="DM Sans"/>
                  <a:cs typeface="DM Sans"/>
                  <a:sym typeface="DM Sans"/>
                </a:rPr>
                <a:t>Integrating GPS tracking will allow users to view real-time bus locations, enhancing the accuracy of arrival estimates and providing a more reliable travel experience.</a:t>
              </a:r>
            </a:p>
          </p:txBody>
        </p:sp>
        <p:sp>
          <p:nvSpPr>
            <p:cNvPr id="10" name="TextBox 10"/>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0A3D62"/>
                  </a:solidFill>
                  <a:latin typeface="DM Sans Bold"/>
                  <a:ea typeface="DM Sans Bold"/>
                  <a:cs typeface="DM Sans Bold"/>
                  <a:sym typeface="DM Sans Bold"/>
                </a:rPr>
                <a:t>GPS TRACKING</a:t>
              </a:r>
            </a:p>
          </p:txBody>
        </p:sp>
      </p:grpSp>
      <p:grpSp>
        <p:nvGrpSpPr>
          <p:cNvPr id="11" name="Group 11"/>
          <p:cNvGrpSpPr/>
          <p:nvPr/>
        </p:nvGrpSpPr>
        <p:grpSpPr>
          <a:xfrm>
            <a:off x="9296400" y="2934225"/>
            <a:ext cx="7191375" cy="2327910"/>
            <a:chOff x="0" y="0"/>
            <a:chExt cx="9588500" cy="3103880"/>
          </a:xfrm>
        </p:grpSpPr>
        <p:sp>
          <p:nvSpPr>
            <p:cNvPr id="12" name="TextBox 12"/>
            <p:cNvSpPr txBox="1"/>
            <p:nvPr/>
          </p:nvSpPr>
          <p:spPr>
            <a:xfrm>
              <a:off x="0" y="1146175"/>
              <a:ext cx="9588500" cy="1957705"/>
            </a:xfrm>
            <a:prstGeom prst="rect">
              <a:avLst/>
            </a:prstGeom>
          </p:spPr>
          <p:txBody>
            <a:bodyPr lIns="0" tIns="0" rIns="0" bIns="0" rtlCol="0" anchor="t">
              <a:spAutoFit/>
            </a:bodyPr>
            <a:lstStyle/>
            <a:p>
              <a:pPr marL="0" lvl="0" indent="0" algn="l">
                <a:lnSpc>
                  <a:spcPts val="2940"/>
                </a:lnSpc>
              </a:pPr>
              <a:r>
                <a:rPr lang="en-US" sz="2100">
                  <a:solidFill>
                    <a:srgbClr val="0A3D62"/>
                  </a:solidFill>
                  <a:latin typeface="DM Sans"/>
                  <a:ea typeface="DM Sans"/>
                  <a:cs typeface="DM Sans"/>
                  <a:sym typeface="DM Sans"/>
                </a:rPr>
                <a:t>Developing a mobile application will enable users to access bus information on-the-go, receive alerts, and enjoy user-friendly features for tracking bus schedules and locations.</a:t>
              </a:r>
            </a:p>
          </p:txBody>
        </p:sp>
        <p:sp>
          <p:nvSpPr>
            <p:cNvPr id="13" name="TextBox 13"/>
            <p:cNvSpPr txBox="1"/>
            <p:nvPr/>
          </p:nvSpPr>
          <p:spPr>
            <a:xfrm>
              <a:off x="0" y="-47625"/>
              <a:ext cx="9588500" cy="569172"/>
            </a:xfrm>
            <a:prstGeom prst="rect">
              <a:avLst/>
            </a:prstGeom>
          </p:spPr>
          <p:txBody>
            <a:bodyPr lIns="0" tIns="0" rIns="0" bIns="0" rtlCol="0" anchor="t">
              <a:spAutoFit/>
            </a:bodyPr>
            <a:lstStyle/>
            <a:p>
              <a:pPr marL="0" lvl="0" indent="0" algn="l">
                <a:lnSpc>
                  <a:spcPts val="3640"/>
                </a:lnSpc>
              </a:pPr>
              <a:r>
                <a:rPr lang="en-US" sz="2600" b="1">
                  <a:solidFill>
                    <a:srgbClr val="0A3D62"/>
                  </a:solidFill>
                  <a:latin typeface="DM Sans Bold"/>
                  <a:ea typeface="DM Sans Bold"/>
                  <a:cs typeface="DM Sans Bold"/>
                  <a:sym typeface="DM Sans Bold"/>
                </a:rPr>
                <a:t>MOBILE APP</a:t>
              </a:r>
            </a:p>
          </p:txBody>
        </p:sp>
      </p:grpSp>
      <p:sp>
        <p:nvSpPr>
          <p:cNvPr id="14" name="TextBox 14"/>
          <p:cNvSpPr txBox="1"/>
          <p:nvPr/>
        </p:nvSpPr>
        <p:spPr>
          <a:xfrm>
            <a:off x="666750" y="733425"/>
            <a:ext cx="16954500" cy="1149353"/>
          </a:xfrm>
          <a:prstGeom prst="rect">
            <a:avLst/>
          </a:prstGeom>
        </p:spPr>
        <p:txBody>
          <a:bodyPr lIns="0" tIns="0" rIns="0" bIns="0" rtlCol="0" anchor="t">
            <a:spAutoFit/>
          </a:bodyPr>
          <a:lstStyle/>
          <a:p>
            <a:pPr marL="0" lvl="0" indent="0" algn="l">
              <a:lnSpc>
                <a:spcPts val="8800"/>
              </a:lnSpc>
              <a:spcBef>
                <a:spcPct val="0"/>
              </a:spcBef>
            </a:pPr>
            <a:r>
              <a:rPr lang="en-US" sz="8000">
                <a:solidFill>
                  <a:srgbClr val="0A3D62"/>
                </a:solidFill>
                <a:latin typeface="Georgia Pro Light"/>
                <a:ea typeface="Georgia Pro Light"/>
                <a:cs typeface="Georgia Pro Light"/>
                <a:sym typeface="Georgia Pro Light"/>
              </a:rPr>
              <a:t>Future Enhancements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3F5"/>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0"/>
            <a:ext cx="7553325" cy="10287000"/>
            <a:chOff x="0" y="0"/>
            <a:chExt cx="1170208" cy="1593725"/>
          </a:xfrm>
        </p:grpSpPr>
        <p:sp>
          <p:nvSpPr>
            <p:cNvPr id="3" name="Freeform 3"/>
            <p:cNvSpPr/>
            <p:nvPr/>
          </p:nvSpPr>
          <p:spPr>
            <a:xfrm>
              <a:off x="0" y="0"/>
              <a:ext cx="1170208" cy="1593725"/>
            </a:xfrm>
            <a:custGeom>
              <a:avLst/>
              <a:gdLst/>
              <a:ahLst/>
              <a:cxnLst/>
              <a:rect l="l" t="t" r="r" b="b"/>
              <a:pathLst>
                <a:path w="1170208" h="1593725">
                  <a:moveTo>
                    <a:pt x="0" y="0"/>
                  </a:moveTo>
                  <a:lnTo>
                    <a:pt x="1170208" y="0"/>
                  </a:lnTo>
                  <a:lnTo>
                    <a:pt x="1170208" y="1593725"/>
                  </a:lnTo>
                  <a:lnTo>
                    <a:pt x="0" y="1593725"/>
                  </a:lnTo>
                  <a:close/>
                </a:path>
              </a:pathLst>
            </a:custGeom>
            <a:blipFill>
              <a:blip r:embed="rId2"/>
              <a:stretch>
                <a:fillRect t="-205" b="-205"/>
              </a:stretch>
            </a:blipFill>
          </p:spPr>
        </p:sp>
      </p:grpSp>
      <p:grpSp>
        <p:nvGrpSpPr>
          <p:cNvPr id="4" name="Group 4"/>
          <p:cNvGrpSpPr/>
          <p:nvPr/>
        </p:nvGrpSpPr>
        <p:grpSpPr>
          <a:xfrm>
            <a:off x="666750" y="666750"/>
            <a:ext cx="8324850" cy="3004131"/>
            <a:chOff x="0" y="0"/>
            <a:chExt cx="11099800" cy="4005508"/>
          </a:xfrm>
        </p:grpSpPr>
        <p:sp>
          <p:nvSpPr>
            <p:cNvPr id="5" name="TextBox 5"/>
            <p:cNvSpPr txBox="1"/>
            <p:nvPr/>
          </p:nvSpPr>
          <p:spPr>
            <a:xfrm>
              <a:off x="0" y="66675"/>
              <a:ext cx="11099800" cy="1554696"/>
            </a:xfrm>
            <a:prstGeom prst="rect">
              <a:avLst/>
            </a:prstGeom>
          </p:spPr>
          <p:txBody>
            <a:bodyPr lIns="0" tIns="0" rIns="0" bIns="0" rtlCol="0" anchor="t">
              <a:spAutoFit/>
            </a:bodyPr>
            <a:lstStyle/>
            <a:p>
              <a:pPr marL="0" lvl="0" indent="0" algn="l">
                <a:lnSpc>
                  <a:spcPts val="8800"/>
                </a:lnSpc>
              </a:pPr>
              <a:r>
                <a:rPr lang="en-US" sz="8000">
                  <a:solidFill>
                    <a:srgbClr val="0A3D62"/>
                  </a:solidFill>
                  <a:latin typeface="Georgia Pro Light"/>
                  <a:ea typeface="Georgia Pro Light"/>
                  <a:cs typeface="Georgia Pro Light"/>
                  <a:sym typeface="Georgia Pro Light"/>
                </a:rPr>
                <a:t>Conclusion</a:t>
              </a:r>
            </a:p>
          </p:txBody>
        </p:sp>
        <p:sp>
          <p:nvSpPr>
            <p:cNvPr id="6" name="TextBox 6"/>
            <p:cNvSpPr txBox="1"/>
            <p:nvPr/>
          </p:nvSpPr>
          <p:spPr>
            <a:xfrm>
              <a:off x="0" y="2047803"/>
              <a:ext cx="11099800" cy="1957705"/>
            </a:xfrm>
            <a:prstGeom prst="rect">
              <a:avLst/>
            </a:prstGeom>
          </p:spPr>
          <p:txBody>
            <a:bodyPr lIns="0" tIns="0" rIns="0" bIns="0" rtlCol="0" anchor="t">
              <a:spAutoFit/>
            </a:bodyPr>
            <a:lstStyle/>
            <a:p>
              <a:pPr marL="0" lvl="0" indent="0" algn="l">
                <a:lnSpc>
                  <a:spcPts val="2940"/>
                </a:lnSpc>
              </a:pPr>
              <a:r>
                <a:rPr lang="en-US" sz="2100">
                  <a:solidFill>
                    <a:srgbClr val="0A3D62"/>
                  </a:solidFill>
                  <a:latin typeface="DM Sans"/>
                  <a:ea typeface="DM Sans"/>
                  <a:cs typeface="DM Sans"/>
                  <a:sym typeface="DM Sans"/>
                </a:rPr>
                <a:t>The Smart Bus Monitoring System revolutionizes college transport by replacing rigid systems with a </a:t>
              </a:r>
              <a:r>
                <a:rPr lang="en-US" sz="2100" b="1">
                  <a:solidFill>
                    <a:srgbClr val="0A3D62"/>
                  </a:solidFill>
                  <a:latin typeface="DM Sans Bold"/>
                  <a:ea typeface="DM Sans Bold"/>
                  <a:cs typeface="DM Sans Bold"/>
                  <a:sym typeface="DM Sans Bold"/>
                </a:rPr>
                <a:t>flexible, database-driven</a:t>
              </a:r>
              <a:r>
                <a:rPr lang="en-US" sz="2100">
                  <a:solidFill>
                    <a:srgbClr val="0A3D62"/>
                  </a:solidFill>
                  <a:latin typeface="DM Sans"/>
                  <a:ea typeface="DM Sans"/>
                  <a:cs typeface="DM Sans"/>
                  <a:sym typeface="DM Sans"/>
                </a:rPr>
                <a:t> approach, enhancing user experience and facilitating scalability for future updates.</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3D62"/>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0067925" cy="3077210"/>
            <a:chOff x="0" y="0"/>
            <a:chExt cx="13423900" cy="4102947"/>
          </a:xfrm>
        </p:grpSpPr>
        <p:sp>
          <p:nvSpPr>
            <p:cNvPr id="3" name="TextBox 3"/>
            <p:cNvSpPr txBox="1"/>
            <p:nvPr/>
          </p:nvSpPr>
          <p:spPr>
            <a:xfrm>
              <a:off x="0" y="66675"/>
              <a:ext cx="13423900" cy="3040596"/>
            </a:xfrm>
            <a:prstGeom prst="rect">
              <a:avLst/>
            </a:prstGeom>
          </p:spPr>
          <p:txBody>
            <a:bodyPr lIns="0" tIns="0" rIns="0" bIns="0" rtlCol="0" anchor="t">
              <a:spAutoFit/>
            </a:bodyPr>
            <a:lstStyle/>
            <a:p>
              <a:pPr marL="0" lvl="0" indent="0" algn="l">
                <a:lnSpc>
                  <a:spcPts val="8800"/>
                </a:lnSpc>
                <a:spcBef>
                  <a:spcPct val="0"/>
                </a:spcBef>
              </a:pPr>
              <a:r>
                <a:rPr lang="en-US" sz="8000">
                  <a:solidFill>
                    <a:srgbClr val="FFFFFF"/>
                  </a:solidFill>
                  <a:latin typeface="Georgia Pro Light"/>
                  <a:ea typeface="Georgia Pro Light"/>
                  <a:cs typeface="Georgia Pro Light"/>
                  <a:sym typeface="Georgia Pro Light"/>
                </a:rPr>
                <a:t>Thank You for Your Attention!</a:t>
              </a:r>
            </a:p>
          </p:txBody>
        </p:sp>
        <p:sp>
          <p:nvSpPr>
            <p:cNvPr id="4" name="TextBox 4"/>
            <p:cNvSpPr txBox="1"/>
            <p:nvPr/>
          </p:nvSpPr>
          <p:spPr>
            <a:xfrm>
              <a:off x="22395" y="3533775"/>
              <a:ext cx="13401505" cy="569172"/>
            </a:xfrm>
            <a:prstGeom prst="rect">
              <a:avLst/>
            </a:prstGeom>
          </p:spPr>
          <p:txBody>
            <a:bodyPr lIns="0" tIns="0" rIns="0" bIns="0" rtlCol="0" anchor="t">
              <a:spAutoFit/>
            </a:bodyPr>
            <a:lstStyle/>
            <a:p>
              <a:pPr marL="0" lvl="0" indent="0" algn="l">
                <a:lnSpc>
                  <a:spcPts val="3640"/>
                </a:lnSpc>
              </a:pPr>
              <a:r>
                <a:rPr lang="en-US" sz="2600">
                  <a:solidFill>
                    <a:srgbClr val="FFFFFF"/>
                  </a:solidFill>
                  <a:latin typeface="DM Sans"/>
                  <a:ea typeface="DM Sans"/>
                  <a:cs typeface="DM Sans"/>
                  <a:sym typeface="DM Sans"/>
                </a:rPr>
                <a:t>WE WELCOME ANY QUESTIONS OR FEEDBACK</a:t>
              </a:r>
            </a:p>
          </p:txBody>
        </p:sp>
      </p:grpSp>
      <p:grpSp>
        <p:nvGrpSpPr>
          <p:cNvPr id="5" name="Group 5"/>
          <p:cNvGrpSpPr/>
          <p:nvPr/>
        </p:nvGrpSpPr>
        <p:grpSpPr>
          <a:xfrm>
            <a:off x="16824544" y="8838298"/>
            <a:ext cx="796706" cy="781952"/>
            <a:chOff x="0" y="0"/>
            <a:chExt cx="685800" cy="673100"/>
          </a:xfrm>
        </p:grpSpPr>
        <p:sp>
          <p:nvSpPr>
            <p:cNvPr id="6" name="Freeform 6"/>
            <p:cNvSpPr/>
            <p:nvPr/>
          </p:nvSpPr>
          <p:spPr>
            <a:xfrm>
              <a:off x="0" y="0"/>
              <a:ext cx="685800" cy="668020"/>
            </a:xfrm>
            <a:custGeom>
              <a:avLst/>
              <a:gdLst/>
              <a:ahLst/>
              <a:cxnLst/>
              <a:rect l="l" t="t" r="r" b="b"/>
              <a:pathLst>
                <a:path w="685800" h="668020">
                  <a:moveTo>
                    <a:pt x="342900" y="0"/>
                  </a:moveTo>
                  <a:lnTo>
                    <a:pt x="434340" y="162560"/>
                  </a:lnTo>
                  <a:lnTo>
                    <a:pt x="618490" y="132080"/>
                  </a:lnTo>
                  <a:lnTo>
                    <a:pt x="547370" y="304800"/>
                  </a:lnTo>
                  <a:lnTo>
                    <a:pt x="685800" y="430530"/>
                  </a:lnTo>
                  <a:lnTo>
                    <a:pt x="506730" y="482600"/>
                  </a:lnTo>
                  <a:lnTo>
                    <a:pt x="495300" y="668020"/>
                  </a:lnTo>
                  <a:lnTo>
                    <a:pt x="342900" y="561340"/>
                  </a:lnTo>
                  <a:lnTo>
                    <a:pt x="190500" y="668020"/>
                  </a:lnTo>
                  <a:lnTo>
                    <a:pt x="179070" y="482600"/>
                  </a:lnTo>
                  <a:lnTo>
                    <a:pt x="0" y="430530"/>
                  </a:lnTo>
                  <a:lnTo>
                    <a:pt x="138430" y="304800"/>
                  </a:lnTo>
                  <a:lnTo>
                    <a:pt x="67310" y="132080"/>
                  </a:lnTo>
                  <a:lnTo>
                    <a:pt x="251460" y="162560"/>
                  </a:lnTo>
                  <a:close/>
                </a:path>
              </a:pathLst>
            </a:custGeom>
            <a:solidFill>
              <a:srgbClr val="F0F3F5"/>
            </a:solidFill>
          </p:spPr>
        </p:sp>
        <p:sp>
          <p:nvSpPr>
            <p:cNvPr id="7" name="TextBox 7"/>
            <p:cNvSpPr txBox="1"/>
            <p:nvPr/>
          </p:nvSpPr>
          <p:spPr>
            <a:xfrm>
              <a:off x="139700" y="117475"/>
              <a:ext cx="406400" cy="441325"/>
            </a:xfrm>
            <a:prstGeom prst="rect">
              <a:avLst/>
            </a:prstGeom>
          </p:spPr>
          <p:txBody>
            <a:bodyPr lIns="50800" tIns="50800" rIns="50800" bIns="50800" rtlCol="0" anchor="ctr"/>
            <a:lstStyle/>
            <a:p>
              <a:pPr algn="ctr">
                <a:lnSpc>
                  <a:spcPts val="294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981</Words>
  <Application>Microsoft Office PowerPoint</Application>
  <PresentationFormat>Custom</PresentationFormat>
  <Paragraphs>92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Georgia Pro Light</vt:lpstr>
      <vt:lpstr>DM Sans</vt:lpstr>
      <vt:lpstr>Arial</vt:lpstr>
      <vt:lpstr>Georgia Pro Bold</vt:lpstr>
      <vt:lpstr>Calibri</vt:lpstr>
      <vt:lpstr>DM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Smart Bus</dc:title>
  <dc:description>Presentation - Smart Bus</dc:description>
  <cp:lastModifiedBy>SAILESH S</cp:lastModifiedBy>
  <cp:revision>2</cp:revision>
  <dcterms:created xsi:type="dcterms:W3CDTF">2006-08-16T00:00:00Z</dcterms:created>
  <dcterms:modified xsi:type="dcterms:W3CDTF">2026-02-15T16:35:49Z</dcterms:modified>
  <dc:identifier>DAHBZxJ2uIU</dc:identifier>
</cp:coreProperties>
</file>